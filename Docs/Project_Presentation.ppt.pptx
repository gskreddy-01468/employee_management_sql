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813" r:id="rId1"/>
  </p:sldMasterIdLst>
  <p:notesMasterIdLst>
    <p:notesMasterId r:id="rId37"/>
  </p:notesMasterIdLst>
  <p:sldIdLst>
    <p:sldId id="256" r:id="rId2"/>
    <p:sldId id="257" r:id="rId3"/>
    <p:sldId id="260" r:id="rId4"/>
    <p:sldId id="263" r:id="rId5"/>
    <p:sldId id="264" r:id="rId6"/>
    <p:sldId id="265" r:id="rId7"/>
    <p:sldId id="261" r:id="rId8"/>
    <p:sldId id="266" r:id="rId9"/>
    <p:sldId id="267" r:id="rId10"/>
    <p:sldId id="268" r:id="rId11"/>
    <p:sldId id="269" r:id="rId12"/>
    <p:sldId id="270" r:id="rId13"/>
    <p:sldId id="271" r:id="rId14"/>
    <p:sldId id="272" r:id="rId15"/>
    <p:sldId id="273" r:id="rId16"/>
    <p:sldId id="274" r:id="rId17"/>
    <p:sldId id="275" r:id="rId18"/>
    <p:sldId id="276" r:id="rId19"/>
    <p:sldId id="291" r:id="rId20"/>
    <p:sldId id="292" r:id="rId21"/>
    <p:sldId id="293" r:id="rId22"/>
    <p:sldId id="277" r:id="rId23"/>
    <p:sldId id="278" r:id="rId24"/>
    <p:sldId id="279" r:id="rId25"/>
    <p:sldId id="287" r:id="rId26"/>
    <p:sldId id="280" r:id="rId27"/>
    <p:sldId id="281" r:id="rId28"/>
    <p:sldId id="282" r:id="rId29"/>
    <p:sldId id="283" r:id="rId30"/>
    <p:sldId id="284" r:id="rId31"/>
    <p:sldId id="285" r:id="rId32"/>
    <p:sldId id="286" r:id="rId33"/>
    <p:sldId id="288" r:id="rId34"/>
    <p:sldId id="289" r:id="rId35"/>
    <p:sldId id="259" r:id="rId36"/>
  </p:sldIdLst>
  <p:sldSz cx="12192000" cy="6858000"/>
  <p:notesSz cx="6858000" cy="9144000"/>
  <p:embeddedFontLst>
    <p:embeddedFont>
      <p:font typeface="Lato Black" panose="020F0502020204030203" pitchFamily="34" charset="0"/>
      <p:bold r:id="rId38"/>
      <p:boldItalic r:id="rId39"/>
    </p:embeddedFont>
    <p:embeddedFont>
      <p:font typeface="Libre Baskerville" panose="02000000000000000000" pitchFamily="2" charset="0"/>
      <p:regular r:id="rId40"/>
      <p:bold r:id="rId41"/>
      <p:italic r:id="rId42"/>
    </p:embeddedFont>
    <p:embeddedFont>
      <p:font typeface="Trebuchet MS" panose="020B0603020202020204" pitchFamily="34" charset="0"/>
      <p:regular r:id="rId43"/>
      <p:bold r:id="rId44"/>
      <p:italic r:id="rId45"/>
      <p:boldItalic r:id="rId46"/>
    </p:embeddedFont>
    <p:embeddedFont>
      <p:font typeface="Wingdings 3" panose="05040102010807070707" pitchFamily="18" charset="2"/>
      <p:regular r:id="rId4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9"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font" Target="fonts/font10.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7.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6083072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7604645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0048098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2254396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1799155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031496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155828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650176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45709708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55172444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04833118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76116833"/>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180583462"/>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241554329"/>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5571110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538770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671713398"/>
      </p:ext>
    </p:extLst>
  </p:cSld>
  <p:clrMap bg1="lt1" tx1="dk1" bg2="lt2" tx2="dk2" accent1="accent1" accent2="accent2" accent3="accent3" accent4="accent4" accent5="accent5" accent6="accent6" hlink="hlink" folHlink="folHlink"/>
  <p:sldLayoutIdLst>
    <p:sldLayoutId id="2147483814" r:id="rId1"/>
    <p:sldLayoutId id="2147483815" r:id="rId2"/>
    <p:sldLayoutId id="2147483816" r:id="rId3"/>
    <p:sldLayoutId id="2147483817" r:id="rId4"/>
    <p:sldLayoutId id="2147483818" r:id="rId5"/>
    <p:sldLayoutId id="2147483819" r:id="rId6"/>
    <p:sldLayoutId id="2147483820" r:id="rId7"/>
    <p:sldLayoutId id="2147483821" r:id="rId8"/>
    <p:sldLayoutId id="2147483822" r:id="rId9"/>
    <p:sldLayoutId id="2147483823" r:id="rId10"/>
    <p:sldLayoutId id="2147483824" r:id="rId11"/>
    <p:sldLayoutId id="2147483825" r:id="rId12"/>
    <p:sldLayoutId id="2147483826" r:id="rId13"/>
    <p:sldLayoutId id="2147483827" r:id="rId14"/>
    <p:sldLayoutId id="2147483828" r:id="rId15"/>
    <p:sldLayoutId id="2147483829" r:id="rId16"/>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hyperlink" Target="https://www.linkedin.com/in/vinjamara-vamshi-krishna-581611354/"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2.jpeg"/><Relationship Id="rId4" Type="http://schemas.openxmlformats.org/officeDocument/2006/relationships/hyperlink" Target="https://www.linkedin.com/in/baratam-balaji-sai-rohith-434571254/"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2.jpe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3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185" y="0"/>
            <a:ext cx="12190815" cy="6858000"/>
          </a:xfrm>
          <a:prstGeom prst="rect">
            <a:avLst/>
          </a:prstGeom>
          <a:noFill/>
          <a:ln>
            <a:noFill/>
          </a:ln>
        </p:spPr>
      </p:pic>
      <p:sp>
        <p:nvSpPr>
          <p:cNvPr id="99" name="Google Shape;99;p1"/>
          <p:cNvSpPr txBox="1"/>
          <p:nvPr/>
        </p:nvSpPr>
        <p:spPr>
          <a:xfrm>
            <a:off x="624840" y="3511509"/>
            <a:ext cx="11173869" cy="113873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3400" b="1" i="0" u="none" strike="noStrike" cap="none" dirty="0">
                <a:solidFill>
                  <a:srgbClr val="002060"/>
                </a:solidFill>
                <a:latin typeface="Times New Roman" panose="02020603050405020304" pitchFamily="18" charset="0"/>
                <a:cs typeface="Times New Roman" panose="02020603050405020304" pitchFamily="18" charset="0"/>
                <a:sym typeface="Arial"/>
              </a:rPr>
              <a:t>EMPLOYEE MANAGEMENT SYSTEM </a:t>
            </a:r>
          </a:p>
          <a:p>
            <a:pPr marL="0" marR="0" lvl="0" indent="0" algn="ctr" rtl="0">
              <a:lnSpc>
                <a:spcPct val="100000"/>
              </a:lnSpc>
              <a:spcBef>
                <a:spcPts val="0"/>
              </a:spcBef>
              <a:spcAft>
                <a:spcPts val="0"/>
              </a:spcAft>
              <a:buClr>
                <a:srgbClr val="000000"/>
              </a:buClr>
              <a:buSzPts val="1800"/>
              <a:buFont typeface="Arial"/>
              <a:buNone/>
            </a:pPr>
            <a:r>
              <a:rPr lang="en-US" sz="3400" b="1" i="0" u="none" strike="noStrike" cap="none" dirty="0">
                <a:solidFill>
                  <a:srgbClr val="002060"/>
                </a:solidFill>
                <a:latin typeface="Times New Roman" panose="02020603050405020304" pitchFamily="18" charset="0"/>
                <a:cs typeface="Times New Roman" panose="02020603050405020304" pitchFamily="18" charset="0"/>
                <a:sym typeface="Arial"/>
              </a:rPr>
              <a:t>DATA ANALYSIS USING SQL </a:t>
            </a:r>
          </a:p>
        </p:txBody>
      </p:sp>
      <p:sp>
        <p:nvSpPr>
          <p:cNvPr id="3" name="TextBox 2">
            <a:extLst>
              <a:ext uri="{FF2B5EF4-FFF2-40B4-BE49-F238E27FC236}">
                <a16:creationId xmlns:a16="http://schemas.microsoft.com/office/drawing/2014/main" id="{976A54B9-B56E-B410-9B22-50F3B0E3A873}"/>
              </a:ext>
            </a:extLst>
          </p:cNvPr>
          <p:cNvSpPr txBox="1"/>
          <p:nvPr/>
        </p:nvSpPr>
        <p:spPr>
          <a:xfrm>
            <a:off x="3008671" y="4702674"/>
            <a:ext cx="6174658" cy="2308324"/>
          </a:xfrm>
          <a:prstGeom prst="rect">
            <a:avLst/>
          </a:prstGeom>
          <a:noFill/>
        </p:spPr>
        <p:txBody>
          <a:bodyPr wrap="square">
            <a:spAutoFit/>
          </a:bodyPr>
          <a:lstStyle/>
          <a:p>
            <a:pPr marL="0" marR="0" lvl="0" indent="0" algn="ctr" rtl="0">
              <a:lnSpc>
                <a:spcPct val="100000"/>
              </a:lnSpc>
              <a:spcBef>
                <a:spcPts val="0"/>
              </a:spcBef>
              <a:spcAft>
                <a:spcPts val="0"/>
              </a:spcAft>
              <a:buClr>
                <a:srgbClr val="000000"/>
              </a:buClr>
              <a:buSzPts val="1800"/>
              <a:buFont typeface="Arial"/>
              <a:buNone/>
            </a:pPr>
            <a:endParaRPr lang="en-US" sz="2400" b="1" i="0" u="none" strike="noStrike" cap="none" dirty="0">
              <a:solidFill>
                <a:srgbClr val="000000"/>
              </a:solidFill>
              <a:latin typeface="Times New Roman" panose="02020603050405020304" pitchFamily="18" charset="0"/>
              <a:cs typeface="Times New Roman" panose="02020603050405020304" pitchFamily="18" charset="0"/>
              <a:sym typeface="Arial"/>
            </a:endParaRPr>
          </a:p>
          <a:p>
            <a:pPr marL="0" marR="0" lvl="0" indent="0" algn="ctr" rtl="0">
              <a:lnSpc>
                <a:spcPct val="100000"/>
              </a:lnSpc>
              <a:spcBef>
                <a:spcPts val="0"/>
              </a:spcBef>
              <a:spcAft>
                <a:spcPts val="0"/>
              </a:spcAft>
              <a:buClr>
                <a:srgbClr val="000000"/>
              </a:buClr>
              <a:buSzPts val="1800"/>
              <a:buFont typeface="Arial"/>
              <a:buNone/>
            </a:pPr>
            <a:r>
              <a:rPr lang="en-US" sz="2400" b="1" i="0" u="none" strike="noStrike" cap="none" dirty="0" err="1">
                <a:solidFill>
                  <a:srgbClr val="000000"/>
                </a:solidFill>
                <a:latin typeface="Times New Roman" panose="02020603050405020304" pitchFamily="18" charset="0"/>
                <a:cs typeface="Times New Roman" panose="02020603050405020304" pitchFamily="18" charset="0"/>
                <a:sym typeface="Arial"/>
              </a:rPr>
              <a:t>Vinjamara</a:t>
            </a:r>
            <a:r>
              <a:rPr lang="en-US" sz="2400" b="1" i="0" u="none" strike="noStrike" cap="none" dirty="0">
                <a:solidFill>
                  <a:srgbClr val="000000"/>
                </a:solidFill>
                <a:latin typeface="Times New Roman" panose="02020603050405020304" pitchFamily="18" charset="0"/>
                <a:cs typeface="Times New Roman" panose="02020603050405020304" pitchFamily="18" charset="0"/>
                <a:sym typeface="Arial"/>
              </a:rPr>
              <a:t> Vamshi Krishna</a:t>
            </a:r>
          </a:p>
          <a:p>
            <a:pPr marL="0" marR="0" lvl="0" indent="0" algn="ctr" rtl="0">
              <a:lnSpc>
                <a:spcPct val="100000"/>
              </a:lnSpc>
              <a:spcBef>
                <a:spcPts val="0"/>
              </a:spcBef>
              <a:spcAft>
                <a:spcPts val="0"/>
              </a:spcAft>
              <a:buClr>
                <a:srgbClr val="000000"/>
              </a:buClr>
              <a:buSzPts val="1800"/>
              <a:buFont typeface="Arial"/>
              <a:buNone/>
            </a:pPr>
            <a:r>
              <a:rPr lang="en-US" sz="2400" b="1" i="0" u="none" strike="noStrike" cap="none" dirty="0" err="1">
                <a:solidFill>
                  <a:srgbClr val="000000"/>
                </a:solidFill>
                <a:latin typeface="Times New Roman" panose="02020603050405020304" pitchFamily="18" charset="0"/>
                <a:cs typeface="Times New Roman" panose="02020603050405020304" pitchFamily="18" charset="0"/>
                <a:sym typeface="Arial"/>
              </a:rPr>
              <a:t>Rapalli</a:t>
            </a:r>
            <a:r>
              <a:rPr lang="en-US" sz="2400" b="1" i="0" u="none" strike="noStrike" cap="none" dirty="0">
                <a:solidFill>
                  <a:srgbClr val="000000"/>
                </a:solidFill>
                <a:latin typeface="Times New Roman" panose="02020603050405020304" pitchFamily="18" charset="0"/>
                <a:cs typeface="Times New Roman" panose="02020603050405020304" pitchFamily="18" charset="0"/>
                <a:sym typeface="Arial"/>
              </a:rPr>
              <a:t> Sriram</a:t>
            </a:r>
          </a:p>
          <a:p>
            <a:pPr algn="ctr" fontAlgn="base"/>
            <a:r>
              <a:rPr lang="en-IN" sz="2400" b="1" dirty="0" err="1">
                <a:latin typeface="Times New Roman" panose="02020603050405020304" pitchFamily="18" charset="0"/>
                <a:cs typeface="Times New Roman" panose="02020603050405020304" pitchFamily="18" charset="0"/>
              </a:rPr>
              <a:t>Baratam</a:t>
            </a:r>
            <a:r>
              <a:rPr lang="en-IN" sz="2400" b="1" dirty="0">
                <a:latin typeface="Times New Roman" panose="02020603050405020304" pitchFamily="18" charset="0"/>
                <a:cs typeface="Times New Roman" panose="02020603050405020304" pitchFamily="18" charset="0"/>
              </a:rPr>
              <a:t> Balaji Sai Rohith</a:t>
            </a:r>
          </a:p>
          <a:p>
            <a:pPr algn="ctr" fontAlgn="base"/>
            <a:r>
              <a:rPr lang="en-US" sz="2400" b="1" dirty="0">
                <a:latin typeface="Times New Roman" panose="02020603050405020304" pitchFamily="18" charset="0"/>
                <a:cs typeface="Times New Roman" panose="02020603050405020304" pitchFamily="18" charset="0"/>
              </a:rPr>
              <a:t>Gogireddy </a:t>
            </a:r>
            <a:r>
              <a:rPr lang="en-US" sz="2400" b="1" dirty="0" err="1">
                <a:latin typeface="Times New Roman" panose="02020603050405020304" pitchFamily="18" charset="0"/>
                <a:cs typeface="Times New Roman" panose="02020603050405020304" pitchFamily="18" charset="0"/>
              </a:rPr>
              <a:t>Sivamanikumar</a:t>
            </a:r>
            <a:r>
              <a:rPr lang="en-US" sz="2400" b="1" dirty="0">
                <a:latin typeface="Times New Roman" panose="02020603050405020304" pitchFamily="18" charset="0"/>
                <a:cs typeface="Times New Roman" panose="02020603050405020304" pitchFamily="18" charset="0"/>
              </a:rPr>
              <a:t> Reddy</a:t>
            </a:r>
          </a:p>
          <a:p>
            <a:pPr algn="ctr" fontAlgn="base"/>
            <a:endParaRPr lang="en-IN" sz="24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29B3DA0F-32E1-F7F9-3CA3-F1D704FE95CA}"/>
              </a:ext>
            </a:extLst>
          </p:cNvPr>
          <p:cNvSpPr txBox="1"/>
          <p:nvPr/>
        </p:nvSpPr>
        <p:spPr>
          <a:xfrm>
            <a:off x="4369579" y="4650242"/>
            <a:ext cx="3452842" cy="830997"/>
          </a:xfrm>
          <a:prstGeom prst="rect">
            <a:avLst/>
          </a:prstGeom>
          <a:noFill/>
        </p:spPr>
        <p:txBody>
          <a:bodyPr wrap="square" rtlCol="0">
            <a:spAutoFit/>
          </a:bodyPr>
          <a:lstStyle/>
          <a:p>
            <a:pPr algn="ctr"/>
            <a:r>
              <a:rPr lang="en-US" sz="2400" b="1" dirty="0">
                <a:solidFill>
                  <a:srgbClr val="FF0000"/>
                </a:solidFill>
                <a:latin typeface="Times New Roman" panose="02020603050405020304" pitchFamily="18" charset="0"/>
                <a:cs typeface="Times New Roman" panose="02020603050405020304" pitchFamily="18" charset="0"/>
              </a:rPr>
              <a:t>Project Associates</a:t>
            </a:r>
          </a:p>
          <a:p>
            <a:pPr algn="ctr"/>
            <a:endParaRPr lang="en-IN" sz="2400" b="1"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Shape 103"/>
        <p:cNvGrpSpPr/>
        <p:nvPr/>
      </p:nvGrpSpPr>
      <p:grpSpPr>
        <a:xfrm>
          <a:off x="0" y="0"/>
          <a:ext cx="0" cy="0"/>
          <a:chOff x="0" y="0"/>
          <a:chExt cx="0" cy="0"/>
        </a:xfrm>
      </p:grpSpPr>
      <p:sp>
        <p:nvSpPr>
          <p:cNvPr id="105" name="Google Shape;105;p3"/>
          <p:cNvSpPr txBox="1"/>
          <p:nvPr/>
        </p:nvSpPr>
        <p:spPr>
          <a:xfrm>
            <a:off x="427656" y="416554"/>
            <a:ext cx="6099463" cy="49590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Lato Black"/>
                <a:ea typeface="Lato Black"/>
                <a:cs typeface="Lato Black"/>
                <a:sym typeface="Lato Black"/>
              </a:rPr>
              <a:t>About </a:t>
            </a:r>
            <a:r>
              <a:rPr lang="en-IN" sz="3200" dirty="0">
                <a:solidFill>
                  <a:srgbClr val="FF0000"/>
                </a:solidFill>
                <a:latin typeface="Lato Black"/>
                <a:ea typeface="Lato Black"/>
                <a:cs typeface="Lato Black"/>
                <a:sym typeface="Lato Black"/>
              </a:rPr>
              <a:t>Us</a:t>
            </a:r>
            <a:endParaRPr sz="1800" b="0" i="0" u="none" strike="noStrike" cap="none" dirty="0">
              <a:solidFill>
                <a:srgbClr val="FF0000"/>
              </a:solidFill>
              <a:latin typeface="Calibri"/>
              <a:ea typeface="Calibri"/>
              <a:cs typeface="Calibri"/>
              <a:sym typeface="Calibri"/>
            </a:endParaRPr>
          </a:p>
        </p:txBody>
      </p:sp>
      <p:sp>
        <p:nvSpPr>
          <p:cNvPr id="3" name="TextBox 2">
            <a:extLst>
              <a:ext uri="{FF2B5EF4-FFF2-40B4-BE49-F238E27FC236}">
                <a16:creationId xmlns:a16="http://schemas.microsoft.com/office/drawing/2014/main" id="{BC7925C7-57B7-7721-D9FD-DD71009F17E1}"/>
              </a:ext>
            </a:extLst>
          </p:cNvPr>
          <p:cNvSpPr txBox="1"/>
          <p:nvPr/>
        </p:nvSpPr>
        <p:spPr>
          <a:xfrm>
            <a:off x="427656" y="912459"/>
            <a:ext cx="9021144" cy="923330"/>
          </a:xfrm>
          <a:prstGeom prst="rect">
            <a:avLst/>
          </a:prstGeom>
          <a:noFill/>
        </p:spPr>
        <p:txBody>
          <a:bodyPr wrap="square">
            <a:spAutoFit/>
          </a:bodyPr>
          <a:lstStyle/>
          <a:p>
            <a:pPr lvl="0" eaLnBrk="0" fontAlgn="base" hangingPunct="0">
              <a:spcBef>
                <a:spcPct val="0"/>
              </a:spcBef>
              <a:spcAft>
                <a:spcPct val="0"/>
              </a:spcAft>
              <a:buClrTx/>
            </a:pPr>
            <a:r>
              <a:rPr lang="en-US" altLang="en-US" sz="1800" dirty="0">
                <a:solidFill>
                  <a:schemeClr val="tx1"/>
                </a:solidFill>
                <a:latin typeface="Times New Roman" panose="02020603050405020304" pitchFamily="18" charset="0"/>
                <a:cs typeface="Times New Roman" panose="02020603050405020304" pitchFamily="18" charset="0"/>
              </a:rPr>
              <a:t>Name        : </a:t>
            </a:r>
            <a:r>
              <a:rPr lang="en-US" altLang="en-US" sz="1800" dirty="0" err="1">
                <a:solidFill>
                  <a:schemeClr val="tx1"/>
                </a:solidFill>
                <a:latin typeface="Times New Roman" panose="02020603050405020304" pitchFamily="18" charset="0"/>
                <a:cs typeface="Times New Roman" panose="02020603050405020304" pitchFamily="18" charset="0"/>
              </a:rPr>
              <a:t>Vinjamara</a:t>
            </a:r>
            <a:r>
              <a:rPr lang="en-US" altLang="en-US" sz="1800" dirty="0">
                <a:solidFill>
                  <a:schemeClr val="tx1"/>
                </a:solidFill>
                <a:latin typeface="Times New Roman" panose="02020603050405020304" pitchFamily="18" charset="0"/>
                <a:cs typeface="Times New Roman" panose="02020603050405020304" pitchFamily="18" charset="0"/>
              </a:rPr>
              <a:t> Vamshi Krishna</a:t>
            </a:r>
          </a:p>
          <a:p>
            <a:pPr eaLnBrk="0" fontAlgn="base" hangingPunct="0">
              <a:spcBef>
                <a:spcPct val="0"/>
              </a:spcBef>
              <a:spcAft>
                <a:spcPct val="0"/>
              </a:spcAft>
              <a:buClrTx/>
            </a:pPr>
            <a:r>
              <a:rPr lang="en-US" altLang="en-US" sz="1800" dirty="0">
                <a:solidFill>
                  <a:schemeClr val="tx1"/>
                </a:solidFill>
                <a:latin typeface="Times New Roman" panose="02020603050405020304" pitchFamily="18" charset="0"/>
                <a:cs typeface="Times New Roman" panose="02020603050405020304" pitchFamily="18" charset="0"/>
              </a:rPr>
              <a:t>Education  : MBA (Business Analytics &amp; Human Recourse)</a:t>
            </a:r>
          </a:p>
          <a:p>
            <a:pPr eaLnBrk="0" fontAlgn="base" hangingPunct="0">
              <a:spcBef>
                <a:spcPct val="0"/>
              </a:spcBef>
              <a:spcAft>
                <a:spcPct val="0"/>
              </a:spcAft>
              <a:buClrTx/>
            </a:pPr>
            <a:r>
              <a:rPr lang="en-US" altLang="en-US" sz="1800" dirty="0">
                <a:solidFill>
                  <a:schemeClr val="tx1">
                    <a:lumMod val="95000"/>
                    <a:lumOff val="5000"/>
                  </a:schemeClr>
                </a:solidFill>
                <a:latin typeface="Times New Roman" panose="02020603050405020304" pitchFamily="18" charset="0"/>
                <a:cs typeface="Times New Roman" panose="02020603050405020304" pitchFamily="18" charset="0"/>
              </a:rPr>
              <a:t>Linked in    : </a:t>
            </a:r>
            <a:r>
              <a:rPr lang="en-US" altLang="en-US" sz="1800" dirty="0">
                <a:solidFill>
                  <a:schemeClr val="tx1">
                    <a:lumMod val="95000"/>
                    <a:lumOff val="5000"/>
                  </a:schemeClr>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https://www.linkedin.com/in/vinjamara-vamshi-krishna-581611354/</a:t>
            </a:r>
            <a:endParaRPr lang="en-US" altLang="en-US" sz="18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CC3842B-7890-DB0D-75C0-980287894D1E}"/>
              </a:ext>
            </a:extLst>
          </p:cNvPr>
          <p:cNvSpPr txBox="1"/>
          <p:nvPr/>
        </p:nvSpPr>
        <p:spPr>
          <a:xfrm>
            <a:off x="431118" y="2148160"/>
            <a:ext cx="8319591" cy="923330"/>
          </a:xfrm>
          <a:prstGeom prst="rect">
            <a:avLst/>
          </a:prstGeom>
          <a:noFill/>
        </p:spPr>
        <p:txBody>
          <a:bodyPr wrap="square">
            <a:spAutoFit/>
          </a:bodyPr>
          <a:lstStyle/>
          <a:p>
            <a:pPr lvl="0" eaLnBrk="0" fontAlgn="base" hangingPunct="0">
              <a:spcBef>
                <a:spcPct val="0"/>
              </a:spcBef>
              <a:spcAft>
                <a:spcPct val="0"/>
              </a:spcAft>
              <a:buClrTx/>
            </a:pPr>
            <a:r>
              <a:rPr lang="en-US" altLang="en-US" sz="1800" dirty="0">
                <a:solidFill>
                  <a:schemeClr val="tx1"/>
                </a:solidFill>
                <a:latin typeface="Times New Roman" panose="02020603050405020304" pitchFamily="18" charset="0"/>
                <a:cs typeface="Times New Roman" panose="02020603050405020304" pitchFamily="18" charset="0"/>
              </a:rPr>
              <a:t>Name        :  Gogireddy </a:t>
            </a:r>
            <a:r>
              <a:rPr lang="en-US" altLang="en-US" sz="1800" dirty="0" err="1">
                <a:solidFill>
                  <a:schemeClr val="tx1"/>
                </a:solidFill>
                <a:latin typeface="Times New Roman" panose="02020603050405020304" pitchFamily="18" charset="0"/>
                <a:cs typeface="Times New Roman" panose="02020603050405020304" pitchFamily="18" charset="0"/>
              </a:rPr>
              <a:t>Sivamanikumar</a:t>
            </a:r>
            <a:r>
              <a:rPr lang="en-US" altLang="en-US" sz="1800" dirty="0">
                <a:solidFill>
                  <a:schemeClr val="tx1"/>
                </a:solidFill>
                <a:latin typeface="Times New Roman" panose="02020603050405020304" pitchFamily="18" charset="0"/>
                <a:cs typeface="Times New Roman" panose="02020603050405020304" pitchFamily="18" charset="0"/>
              </a:rPr>
              <a:t> Reddy</a:t>
            </a:r>
          </a:p>
          <a:p>
            <a:pPr lvl="0" eaLnBrk="0" fontAlgn="base" hangingPunct="0">
              <a:spcBef>
                <a:spcPct val="0"/>
              </a:spcBef>
              <a:spcAft>
                <a:spcPct val="0"/>
              </a:spcAft>
              <a:buClrTx/>
            </a:pPr>
            <a:r>
              <a:rPr lang="en-US" altLang="en-US" sz="1800" dirty="0">
                <a:solidFill>
                  <a:schemeClr val="tx1"/>
                </a:solidFill>
                <a:latin typeface="Times New Roman" panose="02020603050405020304" pitchFamily="18" charset="0"/>
                <a:cs typeface="Times New Roman" panose="02020603050405020304" pitchFamily="18" charset="0"/>
              </a:rPr>
              <a:t>Education  :  </a:t>
            </a:r>
            <a:r>
              <a:rPr lang="en-US" altLang="en-US" sz="1800" dirty="0" err="1">
                <a:solidFill>
                  <a:schemeClr val="tx1"/>
                </a:solidFill>
                <a:latin typeface="Times New Roman" panose="02020603050405020304" pitchFamily="18" charset="0"/>
                <a:cs typeface="Times New Roman" panose="02020603050405020304" pitchFamily="18" charset="0"/>
              </a:rPr>
              <a:t>Btech</a:t>
            </a:r>
            <a:r>
              <a:rPr lang="en-US" altLang="en-US" sz="1800" dirty="0">
                <a:solidFill>
                  <a:schemeClr val="tx1"/>
                </a:solidFill>
                <a:latin typeface="Times New Roman" panose="02020603050405020304" pitchFamily="18" charset="0"/>
                <a:cs typeface="Times New Roman" panose="02020603050405020304" pitchFamily="18" charset="0"/>
              </a:rPr>
              <a:t> (CSE Data Science)</a:t>
            </a:r>
          </a:p>
          <a:p>
            <a:pPr lvl="0" eaLnBrk="0" fontAlgn="base" hangingPunct="0">
              <a:spcBef>
                <a:spcPct val="0"/>
              </a:spcBef>
              <a:spcAft>
                <a:spcPct val="0"/>
              </a:spcAft>
              <a:buClrTx/>
            </a:pPr>
            <a:r>
              <a:rPr lang="en-US" altLang="en-US" sz="1800" dirty="0">
                <a:solidFill>
                  <a:schemeClr val="tx1"/>
                </a:solidFill>
                <a:latin typeface="Times New Roman" panose="02020603050405020304" pitchFamily="18" charset="0"/>
                <a:cs typeface="Times New Roman" panose="02020603050405020304" pitchFamily="18" charset="0"/>
              </a:rPr>
              <a:t>Linked in   :  </a:t>
            </a:r>
            <a:r>
              <a:rPr lang="en-IN" sz="1800" dirty="0">
                <a:latin typeface="Times New Roman" panose="02020603050405020304" pitchFamily="18" charset="0"/>
                <a:cs typeface="Times New Roman" panose="02020603050405020304" pitchFamily="18" charset="0"/>
              </a:rPr>
              <a:t>www.linkedin.com/in/sivamani-kumar-reddy-gogireddy-346665259</a:t>
            </a:r>
            <a:endParaRPr lang="en-US" altLang="en-US" sz="1800" dirty="0">
              <a:solidFill>
                <a:schemeClr val="tx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CE454E2-EC1A-B54D-AB73-C6F8C8BA9FE2}"/>
              </a:ext>
            </a:extLst>
          </p:cNvPr>
          <p:cNvSpPr txBox="1"/>
          <p:nvPr/>
        </p:nvSpPr>
        <p:spPr>
          <a:xfrm>
            <a:off x="427656" y="3555558"/>
            <a:ext cx="7713454" cy="923330"/>
          </a:xfrm>
          <a:prstGeom prst="rect">
            <a:avLst/>
          </a:prstGeom>
          <a:noFill/>
        </p:spPr>
        <p:txBody>
          <a:bodyPr wrap="square">
            <a:spAutoFit/>
          </a:bodyPr>
          <a:lstStyle/>
          <a:p>
            <a:pPr lvl="0" eaLnBrk="0" fontAlgn="base" hangingPunct="0">
              <a:spcBef>
                <a:spcPct val="0"/>
              </a:spcBef>
              <a:spcAft>
                <a:spcPct val="0"/>
              </a:spcAft>
              <a:buClrTx/>
            </a:pPr>
            <a:r>
              <a:rPr lang="en-US" altLang="en-US" sz="1800" dirty="0">
                <a:solidFill>
                  <a:schemeClr val="tx1"/>
                </a:solidFill>
                <a:latin typeface="Times New Roman" panose="02020603050405020304" pitchFamily="18" charset="0"/>
                <a:cs typeface="Times New Roman" panose="02020603050405020304" pitchFamily="18" charset="0"/>
              </a:rPr>
              <a:t>Name        :  </a:t>
            </a:r>
            <a:r>
              <a:rPr lang="en-US" altLang="en-US" sz="1800" dirty="0" err="1">
                <a:solidFill>
                  <a:schemeClr val="tx1"/>
                </a:solidFill>
                <a:latin typeface="Times New Roman" panose="02020603050405020304" pitchFamily="18" charset="0"/>
                <a:cs typeface="Times New Roman" panose="02020603050405020304" pitchFamily="18" charset="0"/>
              </a:rPr>
              <a:t>Rapalli</a:t>
            </a:r>
            <a:r>
              <a:rPr lang="en-US" altLang="en-US" sz="1800" dirty="0">
                <a:solidFill>
                  <a:schemeClr val="tx1"/>
                </a:solidFill>
                <a:latin typeface="Times New Roman" panose="02020603050405020304" pitchFamily="18" charset="0"/>
                <a:cs typeface="Times New Roman" panose="02020603050405020304" pitchFamily="18" charset="0"/>
              </a:rPr>
              <a:t> Sri Ram</a:t>
            </a:r>
          </a:p>
          <a:p>
            <a:pPr lvl="0" eaLnBrk="0" fontAlgn="base" hangingPunct="0">
              <a:spcBef>
                <a:spcPct val="0"/>
              </a:spcBef>
              <a:spcAft>
                <a:spcPct val="0"/>
              </a:spcAft>
              <a:buClrTx/>
            </a:pPr>
            <a:r>
              <a:rPr lang="en-US" altLang="en-US" sz="1800" dirty="0">
                <a:solidFill>
                  <a:schemeClr val="tx1"/>
                </a:solidFill>
                <a:latin typeface="Times New Roman" panose="02020603050405020304" pitchFamily="18" charset="0"/>
                <a:cs typeface="Times New Roman" panose="02020603050405020304" pitchFamily="18" charset="0"/>
              </a:rPr>
              <a:t>Education  :  </a:t>
            </a:r>
            <a:r>
              <a:rPr lang="en-US" altLang="en-US" sz="1800" dirty="0" err="1">
                <a:solidFill>
                  <a:schemeClr val="tx1"/>
                </a:solidFill>
                <a:latin typeface="Times New Roman" panose="02020603050405020304" pitchFamily="18" charset="0"/>
                <a:cs typeface="Times New Roman" panose="02020603050405020304" pitchFamily="18" charset="0"/>
              </a:rPr>
              <a:t>Btech</a:t>
            </a:r>
            <a:r>
              <a:rPr lang="en-US" altLang="en-US" sz="1800" dirty="0">
                <a:solidFill>
                  <a:schemeClr val="tx1"/>
                </a:solidFill>
                <a:latin typeface="Times New Roman" panose="02020603050405020304" pitchFamily="18" charset="0"/>
                <a:cs typeface="Times New Roman" panose="02020603050405020304" pitchFamily="18" charset="0"/>
              </a:rPr>
              <a:t> (EEE)</a:t>
            </a:r>
          </a:p>
          <a:p>
            <a:pPr lvl="0" eaLnBrk="0" fontAlgn="base" hangingPunct="0">
              <a:spcBef>
                <a:spcPct val="0"/>
              </a:spcBef>
              <a:spcAft>
                <a:spcPct val="0"/>
              </a:spcAft>
              <a:buClrTx/>
            </a:pPr>
            <a:r>
              <a:rPr lang="en-US" altLang="en-US" sz="1800" dirty="0">
                <a:solidFill>
                  <a:schemeClr val="tx1"/>
                </a:solidFill>
                <a:latin typeface="Times New Roman" panose="02020603050405020304" pitchFamily="18" charset="0"/>
                <a:cs typeface="Times New Roman" panose="02020603050405020304" pitchFamily="18" charset="0"/>
              </a:rPr>
              <a:t>Linked in   :  https://www.linkedin.com/sriram-rapalli-3b08a133b</a:t>
            </a:r>
          </a:p>
        </p:txBody>
      </p:sp>
      <p:sp>
        <p:nvSpPr>
          <p:cNvPr id="4" name="TextBox 3">
            <a:extLst>
              <a:ext uri="{FF2B5EF4-FFF2-40B4-BE49-F238E27FC236}">
                <a16:creationId xmlns:a16="http://schemas.microsoft.com/office/drawing/2014/main" id="{BFF38B51-C9D4-69B6-BC36-1B8C7C049BDA}"/>
              </a:ext>
            </a:extLst>
          </p:cNvPr>
          <p:cNvSpPr txBox="1"/>
          <p:nvPr/>
        </p:nvSpPr>
        <p:spPr>
          <a:xfrm>
            <a:off x="427655" y="4626372"/>
            <a:ext cx="8608189" cy="923330"/>
          </a:xfrm>
          <a:prstGeom prst="rect">
            <a:avLst/>
          </a:prstGeom>
          <a:noFill/>
        </p:spPr>
        <p:txBody>
          <a:bodyPr wrap="square">
            <a:spAutoFit/>
          </a:bodyPr>
          <a:lstStyle/>
          <a:p>
            <a:pPr lvl="0" eaLnBrk="0" fontAlgn="base" hangingPunct="0">
              <a:spcBef>
                <a:spcPct val="0"/>
              </a:spcBef>
              <a:spcAft>
                <a:spcPct val="0"/>
              </a:spcAft>
              <a:buClrTx/>
            </a:pPr>
            <a:r>
              <a:rPr lang="en-US" altLang="en-US" sz="1800" dirty="0">
                <a:solidFill>
                  <a:schemeClr val="tx1"/>
                </a:solidFill>
                <a:latin typeface="Times New Roman" panose="02020603050405020304" pitchFamily="18" charset="0"/>
                <a:cs typeface="Times New Roman" panose="02020603050405020304" pitchFamily="18" charset="0"/>
              </a:rPr>
              <a:t>Name        :  </a:t>
            </a:r>
            <a:r>
              <a:rPr lang="en-IN" dirty="0" err="1">
                <a:latin typeface="Times New Roman" panose="02020603050405020304" pitchFamily="18" charset="0"/>
                <a:cs typeface="Times New Roman" panose="02020603050405020304" pitchFamily="18" charset="0"/>
              </a:rPr>
              <a:t>Baratam</a:t>
            </a:r>
            <a:r>
              <a:rPr lang="en-IN" dirty="0">
                <a:latin typeface="Times New Roman" panose="02020603050405020304" pitchFamily="18" charset="0"/>
                <a:cs typeface="Times New Roman" panose="02020603050405020304" pitchFamily="18" charset="0"/>
              </a:rPr>
              <a:t> Balaji Sai Rohith</a:t>
            </a:r>
            <a:endParaRPr lang="en-US" altLang="en-US" sz="1800" dirty="0">
              <a:solidFill>
                <a:schemeClr val="tx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r>
              <a:rPr lang="en-US" altLang="en-US" sz="1800" dirty="0">
                <a:solidFill>
                  <a:schemeClr val="tx1"/>
                </a:solidFill>
                <a:latin typeface="Times New Roman" panose="02020603050405020304" pitchFamily="18" charset="0"/>
                <a:cs typeface="Times New Roman" panose="02020603050405020304" pitchFamily="18" charset="0"/>
              </a:rPr>
              <a:t>Education  :  </a:t>
            </a:r>
            <a:r>
              <a:rPr lang="en-US" altLang="en-US" sz="1800" dirty="0" err="1">
                <a:solidFill>
                  <a:schemeClr val="tx1"/>
                </a:solidFill>
                <a:latin typeface="Times New Roman" panose="02020603050405020304" pitchFamily="18" charset="0"/>
                <a:cs typeface="Times New Roman" panose="02020603050405020304" pitchFamily="18" charset="0"/>
              </a:rPr>
              <a:t>Btech</a:t>
            </a:r>
            <a:r>
              <a:rPr lang="en-US" altLang="en-US" sz="1800" dirty="0">
                <a:solidFill>
                  <a:schemeClr val="tx1"/>
                </a:solidFill>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IT</a:t>
            </a:r>
            <a:r>
              <a:rPr lang="en-US" altLang="en-US" sz="1800" dirty="0">
                <a:solidFill>
                  <a:schemeClr val="tx1"/>
                </a:solidFill>
                <a:latin typeface="Times New Roman" panose="02020603050405020304" pitchFamily="18" charset="0"/>
                <a:cs typeface="Times New Roman" panose="02020603050405020304" pitchFamily="18" charset="0"/>
              </a:rPr>
              <a:t>)</a:t>
            </a:r>
          </a:p>
          <a:p>
            <a:pPr lvl="0" eaLnBrk="0" fontAlgn="base" hangingPunct="0">
              <a:spcBef>
                <a:spcPct val="0"/>
              </a:spcBef>
              <a:spcAft>
                <a:spcPct val="0"/>
              </a:spcAft>
              <a:buClrTx/>
            </a:pPr>
            <a:r>
              <a:rPr lang="en-US" altLang="en-US" dirty="0">
                <a:solidFill>
                  <a:schemeClr val="tx1">
                    <a:lumMod val="95000"/>
                    <a:lumOff val="5000"/>
                  </a:schemeClr>
                </a:solidFill>
                <a:latin typeface="Times New Roman" panose="02020603050405020304" pitchFamily="18" charset="0"/>
                <a:cs typeface="Times New Roman" panose="02020603050405020304" pitchFamily="18" charset="0"/>
              </a:rPr>
              <a:t>Linked in   : </a:t>
            </a:r>
            <a:r>
              <a:rPr lang="en-IN" dirty="0">
                <a:solidFill>
                  <a:schemeClr val="tx1">
                    <a:lumMod val="95000"/>
                    <a:lumOff val="5000"/>
                  </a:schemeClr>
                </a:solidFill>
                <a:latin typeface="Times New Roman" panose="02020603050405020304" pitchFamily="18" charset="0"/>
                <a:cs typeface="Times New Roman" panose="02020603050405020304" pitchFamily="18" charset="0"/>
                <a:hlinkClick r:id="rId4" tooltip="https://www.linkedin.com/in/baratam-balaji-sai-rohith-434571254/">
                  <a:extLst>
                    <a:ext uri="{A12FA001-AC4F-418D-AE19-62706E023703}">
                      <ahyp:hlinkClr xmlns:ahyp="http://schemas.microsoft.com/office/drawing/2018/hyperlinkcolor" val="tx"/>
                    </a:ext>
                  </a:extLst>
                </a:hlinkClick>
              </a:rPr>
              <a:t>https://www.linkedin.com/in/baratam-balaji-sai-rohith-434571254/</a:t>
            </a:r>
            <a:endParaRPr lang="en-US" alt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CECD186F-488B-9593-9BF0-0DD72143B266}"/>
              </a:ext>
            </a:extLst>
          </p:cNvPr>
          <p:cNvPicPr>
            <a:picLocks noChangeAspect="1"/>
          </p:cNvPicPr>
          <p:nvPr/>
        </p:nvPicPr>
        <p:blipFill>
          <a:blip r:embed="rId5"/>
          <a:stretch>
            <a:fillRect/>
          </a:stretch>
        </p:blipFill>
        <p:spPr>
          <a:xfrm>
            <a:off x="7393858" y="6099043"/>
            <a:ext cx="4798142" cy="758957"/>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61CA8A8-C2FC-82B9-976F-434FBB3887D3}"/>
              </a:ext>
            </a:extLst>
          </p:cNvPr>
          <p:cNvSpPr txBox="1"/>
          <p:nvPr/>
        </p:nvSpPr>
        <p:spPr>
          <a:xfrm>
            <a:off x="232813" y="679407"/>
            <a:ext cx="10348101" cy="5078313"/>
          </a:xfrm>
          <a:prstGeom prst="rect">
            <a:avLst/>
          </a:prstGeom>
          <a:noFill/>
        </p:spPr>
        <p:txBody>
          <a:bodyPr wrap="square">
            <a:spAutoFit/>
          </a:bodyPr>
          <a:lstStyle/>
          <a:p>
            <a:pPr>
              <a:buNone/>
            </a:pPr>
            <a:r>
              <a:rPr lang="en-US" sz="3600" b="1" dirty="0">
                <a:solidFill>
                  <a:srgbClr val="FF0000"/>
                </a:solidFill>
                <a:latin typeface="Times New Roman" panose="02020603050405020304" pitchFamily="18" charset="0"/>
                <a:cs typeface="Times New Roman" panose="02020603050405020304" pitchFamily="18" charset="0"/>
              </a:rPr>
              <a:t>Objectives of the Project</a:t>
            </a:r>
          </a:p>
          <a:p>
            <a:pPr>
              <a:buNone/>
            </a:pPr>
            <a:endParaRPr lang="en-US" sz="28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design and develop a relational database for managing employee information.</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store employee details such as Employee ID, Name, Department, Salary, and Designation.</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establish relationships between Employees, Departments, and other related tables.</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perform CRUD operations (Create, Read, Update, Delete) efficiently using SQL.</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retrieve and analyze employee data using JOIN, GROUP BY, and aggregate functions.</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maintain data integrity using Primary Key and Foreign Key constraints.</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improve accuracy, reduce manual work, and ensure organized data management.</a:t>
            </a:r>
          </a:p>
        </p:txBody>
      </p:sp>
      <p:pic>
        <p:nvPicPr>
          <p:cNvPr id="2" name="Picture 1">
            <a:extLst>
              <a:ext uri="{FF2B5EF4-FFF2-40B4-BE49-F238E27FC236}">
                <a16:creationId xmlns:a16="http://schemas.microsoft.com/office/drawing/2014/main" id="{5AD04FE4-377A-BFE3-1E74-B6EAA27368A4}"/>
              </a:ext>
            </a:extLst>
          </p:cNvPr>
          <p:cNvPicPr>
            <a:picLocks noChangeAspect="1"/>
          </p:cNvPicPr>
          <p:nvPr/>
        </p:nvPicPr>
        <p:blipFill>
          <a:blip r:embed="rId2"/>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1041206030"/>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8DC5AE84-6861-D0FA-9019-7C577DAD1861}"/>
              </a:ext>
            </a:extLst>
          </p:cNvPr>
          <p:cNvSpPr txBox="1"/>
          <p:nvPr/>
        </p:nvSpPr>
        <p:spPr>
          <a:xfrm>
            <a:off x="2896232" y="0"/>
            <a:ext cx="6096000" cy="584775"/>
          </a:xfrm>
          <a:prstGeom prst="rect">
            <a:avLst/>
          </a:prstGeom>
          <a:noFill/>
        </p:spPr>
        <p:txBody>
          <a:bodyPr wrap="square">
            <a:spAutoFit/>
          </a:bodyPr>
          <a:lstStyle/>
          <a:p>
            <a:pPr algn="ctr"/>
            <a:r>
              <a:rPr lang="en-US" sz="3200" b="1" dirty="0">
                <a:solidFill>
                  <a:srgbClr val="FF0000"/>
                </a:solidFill>
                <a:latin typeface="Times New Roman" panose="02020603050405020304" pitchFamily="18" charset="0"/>
                <a:cs typeface="Times New Roman" panose="02020603050405020304" pitchFamily="18" charset="0"/>
              </a:rPr>
              <a:t>Tables Description</a:t>
            </a:r>
            <a:endParaRPr lang="en-IN" sz="3200" b="1" dirty="0">
              <a:solidFill>
                <a:srgbClr val="FF0000"/>
              </a:solidFill>
            </a:endParaRPr>
          </a:p>
        </p:txBody>
      </p:sp>
      <p:pic>
        <p:nvPicPr>
          <p:cNvPr id="3" name="Picture 2">
            <a:extLst>
              <a:ext uri="{FF2B5EF4-FFF2-40B4-BE49-F238E27FC236}">
                <a16:creationId xmlns:a16="http://schemas.microsoft.com/office/drawing/2014/main" id="{77E8E833-8982-BBC9-8F3F-C5D94D21CD1A}"/>
              </a:ext>
            </a:extLst>
          </p:cNvPr>
          <p:cNvPicPr>
            <a:picLocks noChangeAspect="1"/>
          </p:cNvPicPr>
          <p:nvPr/>
        </p:nvPicPr>
        <p:blipFill>
          <a:blip r:embed="rId2"/>
          <a:stretch>
            <a:fillRect/>
          </a:stretch>
        </p:blipFill>
        <p:spPr>
          <a:xfrm>
            <a:off x="421776" y="1130411"/>
            <a:ext cx="3635570" cy="1691448"/>
          </a:xfrm>
          <a:prstGeom prst="rect">
            <a:avLst/>
          </a:prstGeom>
        </p:spPr>
      </p:pic>
      <p:sp>
        <p:nvSpPr>
          <p:cNvPr id="4" name="TextBox 3">
            <a:extLst>
              <a:ext uri="{FF2B5EF4-FFF2-40B4-BE49-F238E27FC236}">
                <a16:creationId xmlns:a16="http://schemas.microsoft.com/office/drawing/2014/main" id="{06A77F52-3CD2-EEF0-35BB-1DFB06380B54}"/>
              </a:ext>
            </a:extLst>
          </p:cNvPr>
          <p:cNvSpPr txBox="1"/>
          <p:nvPr/>
        </p:nvSpPr>
        <p:spPr>
          <a:xfrm>
            <a:off x="874060" y="664066"/>
            <a:ext cx="3044433"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1. Job Department Table</a:t>
            </a:r>
            <a:endParaRPr lang="en-IN" sz="20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9DBE96EE-52FE-4588-D256-3C1683DA0AC7}"/>
              </a:ext>
            </a:extLst>
          </p:cNvPr>
          <p:cNvPicPr>
            <a:picLocks noChangeAspect="1"/>
          </p:cNvPicPr>
          <p:nvPr/>
        </p:nvPicPr>
        <p:blipFill>
          <a:blip r:embed="rId3"/>
          <a:stretch>
            <a:fillRect/>
          </a:stretch>
        </p:blipFill>
        <p:spPr>
          <a:xfrm>
            <a:off x="8444898" y="3391832"/>
            <a:ext cx="3629114" cy="2635343"/>
          </a:xfrm>
          <a:prstGeom prst="rect">
            <a:avLst/>
          </a:prstGeom>
        </p:spPr>
      </p:pic>
      <p:pic>
        <p:nvPicPr>
          <p:cNvPr id="8" name="Picture 7">
            <a:extLst>
              <a:ext uri="{FF2B5EF4-FFF2-40B4-BE49-F238E27FC236}">
                <a16:creationId xmlns:a16="http://schemas.microsoft.com/office/drawing/2014/main" id="{C8CDE41D-01AD-9FC2-DA6D-165D75B98322}"/>
              </a:ext>
            </a:extLst>
          </p:cNvPr>
          <p:cNvPicPr>
            <a:picLocks noChangeAspect="1"/>
          </p:cNvPicPr>
          <p:nvPr/>
        </p:nvPicPr>
        <p:blipFill>
          <a:blip r:embed="rId4"/>
          <a:stretch>
            <a:fillRect/>
          </a:stretch>
        </p:blipFill>
        <p:spPr>
          <a:xfrm>
            <a:off x="4378924" y="1064176"/>
            <a:ext cx="3811366" cy="1691447"/>
          </a:xfrm>
          <a:prstGeom prst="rect">
            <a:avLst/>
          </a:prstGeom>
        </p:spPr>
      </p:pic>
      <p:pic>
        <p:nvPicPr>
          <p:cNvPr id="10" name="Picture 9">
            <a:extLst>
              <a:ext uri="{FF2B5EF4-FFF2-40B4-BE49-F238E27FC236}">
                <a16:creationId xmlns:a16="http://schemas.microsoft.com/office/drawing/2014/main" id="{DD558E78-0C0B-BA15-19A4-99A01467DC89}"/>
              </a:ext>
            </a:extLst>
          </p:cNvPr>
          <p:cNvPicPr>
            <a:picLocks noChangeAspect="1"/>
          </p:cNvPicPr>
          <p:nvPr/>
        </p:nvPicPr>
        <p:blipFill>
          <a:blip r:embed="rId5"/>
          <a:stretch>
            <a:fillRect/>
          </a:stretch>
        </p:blipFill>
        <p:spPr>
          <a:xfrm>
            <a:off x="428232" y="3470489"/>
            <a:ext cx="3629114" cy="2556686"/>
          </a:xfrm>
          <a:prstGeom prst="rect">
            <a:avLst/>
          </a:prstGeom>
        </p:spPr>
      </p:pic>
      <p:sp>
        <p:nvSpPr>
          <p:cNvPr id="11" name="TextBox 10">
            <a:extLst>
              <a:ext uri="{FF2B5EF4-FFF2-40B4-BE49-F238E27FC236}">
                <a16:creationId xmlns:a16="http://schemas.microsoft.com/office/drawing/2014/main" id="{AA644279-6251-911C-4DAA-E465492CE851}"/>
              </a:ext>
            </a:extLst>
          </p:cNvPr>
          <p:cNvSpPr txBox="1"/>
          <p:nvPr/>
        </p:nvSpPr>
        <p:spPr>
          <a:xfrm>
            <a:off x="4799812" y="664066"/>
            <a:ext cx="2592376"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2. Salary Bonus Table</a:t>
            </a:r>
            <a:endParaRPr lang="en-IN" sz="2000" b="1"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6BE78800-6809-380B-EDB4-866CC15B83C9}"/>
              </a:ext>
            </a:extLst>
          </p:cNvPr>
          <p:cNvPicPr>
            <a:picLocks noChangeAspect="1"/>
          </p:cNvPicPr>
          <p:nvPr/>
        </p:nvPicPr>
        <p:blipFill>
          <a:blip r:embed="rId6"/>
          <a:stretch>
            <a:fillRect/>
          </a:stretch>
        </p:blipFill>
        <p:spPr>
          <a:xfrm>
            <a:off x="8511867" y="1064176"/>
            <a:ext cx="3562145" cy="1691447"/>
          </a:xfrm>
          <a:prstGeom prst="rect">
            <a:avLst/>
          </a:prstGeom>
        </p:spPr>
      </p:pic>
      <p:sp>
        <p:nvSpPr>
          <p:cNvPr id="14" name="TextBox 13">
            <a:extLst>
              <a:ext uri="{FF2B5EF4-FFF2-40B4-BE49-F238E27FC236}">
                <a16:creationId xmlns:a16="http://schemas.microsoft.com/office/drawing/2014/main" id="{2F6EDFEA-E2AA-7BF5-DD33-7CA23688135C}"/>
              </a:ext>
            </a:extLst>
          </p:cNvPr>
          <p:cNvSpPr txBox="1"/>
          <p:nvPr/>
        </p:nvSpPr>
        <p:spPr>
          <a:xfrm>
            <a:off x="8992232" y="664066"/>
            <a:ext cx="1887055"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3. Leaves Table</a:t>
            </a:r>
            <a:endParaRPr lang="en-IN" sz="2000"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78A78566-791A-7EC3-30D1-D5A0AEE995AE}"/>
              </a:ext>
            </a:extLst>
          </p:cNvPr>
          <p:cNvSpPr txBox="1"/>
          <p:nvPr/>
        </p:nvSpPr>
        <p:spPr>
          <a:xfrm>
            <a:off x="963561" y="3028890"/>
            <a:ext cx="2214068"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4. Employee Table</a:t>
            </a:r>
            <a:endParaRPr lang="en-IN" sz="2000" b="1" dirty="0">
              <a:latin typeface="Times New Roman" panose="02020603050405020304" pitchFamily="18" charset="0"/>
              <a:cs typeface="Times New Roman" panose="02020603050405020304" pitchFamily="18" charset="0"/>
            </a:endParaRPr>
          </a:p>
        </p:txBody>
      </p:sp>
      <p:pic>
        <p:nvPicPr>
          <p:cNvPr id="20" name="Picture 19">
            <a:extLst>
              <a:ext uri="{FF2B5EF4-FFF2-40B4-BE49-F238E27FC236}">
                <a16:creationId xmlns:a16="http://schemas.microsoft.com/office/drawing/2014/main" id="{DED58662-41D7-9E4B-1564-5077B38BDF79}"/>
              </a:ext>
            </a:extLst>
          </p:cNvPr>
          <p:cNvPicPr>
            <a:picLocks noChangeAspect="1"/>
          </p:cNvPicPr>
          <p:nvPr/>
        </p:nvPicPr>
        <p:blipFill>
          <a:blip r:embed="rId7"/>
          <a:stretch>
            <a:fillRect/>
          </a:stretch>
        </p:blipFill>
        <p:spPr>
          <a:xfrm>
            <a:off x="4490749" y="3428999"/>
            <a:ext cx="3520745" cy="1770739"/>
          </a:xfrm>
          <a:prstGeom prst="rect">
            <a:avLst/>
          </a:prstGeom>
        </p:spPr>
      </p:pic>
      <p:sp>
        <p:nvSpPr>
          <p:cNvPr id="22" name="TextBox 21">
            <a:extLst>
              <a:ext uri="{FF2B5EF4-FFF2-40B4-BE49-F238E27FC236}">
                <a16:creationId xmlns:a16="http://schemas.microsoft.com/office/drawing/2014/main" id="{942C20A0-5B2B-018A-E488-5B9B98C94928}"/>
              </a:ext>
            </a:extLst>
          </p:cNvPr>
          <p:cNvSpPr txBox="1"/>
          <p:nvPr/>
        </p:nvSpPr>
        <p:spPr>
          <a:xfrm>
            <a:off x="4515320" y="3028890"/>
            <a:ext cx="3712876" cy="707886"/>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5. Employee Qualification Table</a:t>
            </a:r>
            <a:endParaRPr lang="en-IN" sz="2000" b="1" dirty="0">
              <a:latin typeface="Times New Roman" panose="02020603050405020304" pitchFamily="18" charset="0"/>
              <a:cs typeface="Times New Roman" panose="02020603050405020304" pitchFamily="18" charset="0"/>
            </a:endParaRPr>
          </a:p>
          <a:p>
            <a:endParaRPr lang="en-IN" sz="2000" dirty="0"/>
          </a:p>
        </p:txBody>
      </p:sp>
      <p:sp>
        <p:nvSpPr>
          <p:cNvPr id="24" name="TextBox 23">
            <a:extLst>
              <a:ext uri="{FF2B5EF4-FFF2-40B4-BE49-F238E27FC236}">
                <a16:creationId xmlns:a16="http://schemas.microsoft.com/office/drawing/2014/main" id="{9690BD3D-CCFB-1341-7DBE-262FA81FE33B}"/>
              </a:ext>
            </a:extLst>
          </p:cNvPr>
          <p:cNvSpPr txBox="1"/>
          <p:nvPr/>
        </p:nvSpPr>
        <p:spPr>
          <a:xfrm>
            <a:off x="8992232" y="3028890"/>
            <a:ext cx="1928733"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6. Payroll Table</a:t>
            </a:r>
            <a:endParaRPr lang="en-IN" sz="20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82DA21AF-22EE-259B-C773-2813FCF7566B}"/>
              </a:ext>
            </a:extLst>
          </p:cNvPr>
          <p:cNvPicPr>
            <a:picLocks noChangeAspect="1"/>
          </p:cNvPicPr>
          <p:nvPr/>
        </p:nvPicPr>
        <p:blipFill>
          <a:blip r:embed="rId8"/>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75272893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3BCC385-3F31-56B0-E748-6B0D134568B1}"/>
              </a:ext>
            </a:extLst>
          </p:cNvPr>
          <p:cNvSpPr txBox="1"/>
          <p:nvPr/>
        </p:nvSpPr>
        <p:spPr>
          <a:xfrm>
            <a:off x="2733368" y="0"/>
            <a:ext cx="6096000" cy="523220"/>
          </a:xfrm>
          <a:prstGeom prst="rect">
            <a:avLst/>
          </a:prstGeom>
          <a:noFill/>
        </p:spPr>
        <p:txBody>
          <a:bodyPr wrap="square">
            <a:spAutoFit/>
          </a:bodyPr>
          <a:lstStyle/>
          <a:p>
            <a:pPr algn="ctr"/>
            <a:r>
              <a:rPr lang="en-US" sz="2800" b="1" dirty="0">
                <a:solidFill>
                  <a:srgbClr val="FF0000"/>
                </a:solidFill>
                <a:latin typeface="Times New Roman" panose="02020603050405020304" pitchFamily="18" charset="0"/>
                <a:cs typeface="Times New Roman" panose="02020603050405020304" pitchFamily="18" charset="0"/>
              </a:rPr>
              <a:t>Tables After Data Insertion</a:t>
            </a:r>
            <a:endParaRPr lang="en-IN" sz="2800" b="1" dirty="0">
              <a:solidFill>
                <a:srgbClr val="FF0000"/>
              </a:solidFill>
            </a:endParaRPr>
          </a:p>
        </p:txBody>
      </p:sp>
      <p:sp>
        <p:nvSpPr>
          <p:cNvPr id="2" name="TextBox 1">
            <a:extLst>
              <a:ext uri="{FF2B5EF4-FFF2-40B4-BE49-F238E27FC236}">
                <a16:creationId xmlns:a16="http://schemas.microsoft.com/office/drawing/2014/main" id="{95BAA194-27A1-8E28-84A3-FC442FE414F8}"/>
              </a:ext>
            </a:extLst>
          </p:cNvPr>
          <p:cNvSpPr txBox="1"/>
          <p:nvPr/>
        </p:nvSpPr>
        <p:spPr>
          <a:xfrm>
            <a:off x="736409" y="523220"/>
            <a:ext cx="3044433"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1. Job Department Table</a:t>
            </a:r>
            <a:endParaRPr lang="en-IN" sz="20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8C943B9-9F56-86CE-54DF-1B23759A0CB4}"/>
              </a:ext>
            </a:extLst>
          </p:cNvPr>
          <p:cNvPicPr>
            <a:picLocks noChangeAspect="1"/>
          </p:cNvPicPr>
          <p:nvPr/>
        </p:nvPicPr>
        <p:blipFill>
          <a:blip r:embed="rId2"/>
          <a:stretch>
            <a:fillRect/>
          </a:stretch>
        </p:blipFill>
        <p:spPr>
          <a:xfrm>
            <a:off x="736409" y="356071"/>
            <a:ext cx="6362481" cy="2642767"/>
          </a:xfrm>
          <a:prstGeom prst="rect">
            <a:avLst/>
          </a:prstGeom>
        </p:spPr>
      </p:pic>
      <p:sp>
        <p:nvSpPr>
          <p:cNvPr id="6" name="TextBox 5">
            <a:extLst>
              <a:ext uri="{FF2B5EF4-FFF2-40B4-BE49-F238E27FC236}">
                <a16:creationId xmlns:a16="http://schemas.microsoft.com/office/drawing/2014/main" id="{678D60F6-A87A-9AA6-7746-B432AE879239}"/>
              </a:ext>
            </a:extLst>
          </p:cNvPr>
          <p:cNvSpPr txBox="1"/>
          <p:nvPr/>
        </p:nvSpPr>
        <p:spPr>
          <a:xfrm>
            <a:off x="7579926" y="523220"/>
            <a:ext cx="2592376"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2. Salary Bonus Table</a:t>
            </a:r>
            <a:endParaRPr lang="en-IN" sz="2000" b="1"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382E7659-CF38-6366-3D3D-4F2AE60C455D}"/>
              </a:ext>
            </a:extLst>
          </p:cNvPr>
          <p:cNvPicPr>
            <a:picLocks noChangeAspect="1"/>
          </p:cNvPicPr>
          <p:nvPr/>
        </p:nvPicPr>
        <p:blipFill>
          <a:blip r:embed="rId3"/>
          <a:stretch>
            <a:fillRect/>
          </a:stretch>
        </p:blipFill>
        <p:spPr>
          <a:xfrm>
            <a:off x="7579926" y="926818"/>
            <a:ext cx="4159790" cy="2072019"/>
          </a:xfrm>
          <a:prstGeom prst="rect">
            <a:avLst/>
          </a:prstGeom>
        </p:spPr>
      </p:pic>
      <p:sp>
        <p:nvSpPr>
          <p:cNvPr id="13" name="TextBox 12">
            <a:extLst>
              <a:ext uri="{FF2B5EF4-FFF2-40B4-BE49-F238E27FC236}">
                <a16:creationId xmlns:a16="http://schemas.microsoft.com/office/drawing/2014/main" id="{89AB2FE5-A6C8-AF90-9ECE-EED97484E648}"/>
              </a:ext>
            </a:extLst>
          </p:cNvPr>
          <p:cNvSpPr txBox="1"/>
          <p:nvPr/>
        </p:nvSpPr>
        <p:spPr>
          <a:xfrm>
            <a:off x="7579926" y="3228945"/>
            <a:ext cx="1887055"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4. Leaves Table</a:t>
            </a:r>
            <a:endParaRPr lang="en-IN" sz="2000" b="1"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4E0DC886-4091-E545-1CC0-57F93C8CB19A}"/>
              </a:ext>
            </a:extLst>
          </p:cNvPr>
          <p:cNvPicPr>
            <a:picLocks noChangeAspect="1"/>
          </p:cNvPicPr>
          <p:nvPr/>
        </p:nvPicPr>
        <p:blipFill>
          <a:blip r:embed="rId4"/>
          <a:stretch>
            <a:fillRect/>
          </a:stretch>
        </p:blipFill>
        <p:spPr>
          <a:xfrm>
            <a:off x="7579926" y="3722113"/>
            <a:ext cx="4337036" cy="2044930"/>
          </a:xfrm>
          <a:prstGeom prst="rect">
            <a:avLst/>
          </a:prstGeom>
        </p:spPr>
      </p:pic>
      <p:sp>
        <p:nvSpPr>
          <p:cNvPr id="19" name="TextBox 18">
            <a:extLst>
              <a:ext uri="{FF2B5EF4-FFF2-40B4-BE49-F238E27FC236}">
                <a16:creationId xmlns:a16="http://schemas.microsoft.com/office/drawing/2014/main" id="{9B8BF624-0AC5-4104-20E9-B94E43A9CF45}"/>
              </a:ext>
            </a:extLst>
          </p:cNvPr>
          <p:cNvSpPr txBox="1"/>
          <p:nvPr/>
        </p:nvSpPr>
        <p:spPr>
          <a:xfrm>
            <a:off x="650346" y="3322003"/>
            <a:ext cx="2214068"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3. Employee Table</a:t>
            </a:r>
            <a:endParaRPr lang="en-IN" sz="2000" b="1" dirty="0">
              <a:latin typeface="Times New Roman" panose="02020603050405020304" pitchFamily="18" charset="0"/>
              <a:cs typeface="Times New Roman" panose="02020603050405020304" pitchFamily="18" charset="0"/>
            </a:endParaRPr>
          </a:p>
        </p:txBody>
      </p:sp>
      <p:pic>
        <p:nvPicPr>
          <p:cNvPr id="21" name="Picture 20">
            <a:extLst>
              <a:ext uri="{FF2B5EF4-FFF2-40B4-BE49-F238E27FC236}">
                <a16:creationId xmlns:a16="http://schemas.microsoft.com/office/drawing/2014/main" id="{57111D2B-CF88-180F-54CD-68D28C6650BF}"/>
              </a:ext>
            </a:extLst>
          </p:cNvPr>
          <p:cNvPicPr>
            <a:picLocks noChangeAspect="1"/>
          </p:cNvPicPr>
          <p:nvPr/>
        </p:nvPicPr>
        <p:blipFill>
          <a:blip r:embed="rId5"/>
          <a:stretch>
            <a:fillRect/>
          </a:stretch>
        </p:blipFill>
        <p:spPr>
          <a:xfrm>
            <a:off x="758501" y="3828893"/>
            <a:ext cx="6340389" cy="2044930"/>
          </a:xfrm>
          <a:prstGeom prst="rect">
            <a:avLst/>
          </a:prstGeom>
        </p:spPr>
      </p:pic>
      <p:pic>
        <p:nvPicPr>
          <p:cNvPr id="4" name="Picture 3">
            <a:extLst>
              <a:ext uri="{FF2B5EF4-FFF2-40B4-BE49-F238E27FC236}">
                <a16:creationId xmlns:a16="http://schemas.microsoft.com/office/drawing/2014/main" id="{47AB8B60-D8DC-91CE-7DE4-95BB27D086CC}"/>
              </a:ext>
            </a:extLst>
          </p:cNvPr>
          <p:cNvPicPr>
            <a:picLocks noChangeAspect="1"/>
          </p:cNvPicPr>
          <p:nvPr/>
        </p:nvPicPr>
        <p:blipFill>
          <a:blip r:embed="rId6"/>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274848245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B65B230-39AA-7325-C76C-1B2901785368}"/>
              </a:ext>
            </a:extLst>
          </p:cNvPr>
          <p:cNvSpPr txBox="1"/>
          <p:nvPr/>
        </p:nvSpPr>
        <p:spPr>
          <a:xfrm>
            <a:off x="698090" y="3429000"/>
            <a:ext cx="1928733"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6. Payroll Table</a:t>
            </a:r>
            <a:endParaRPr lang="en-IN" sz="20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6172D36-760C-569A-14EC-C2A065265C77}"/>
              </a:ext>
            </a:extLst>
          </p:cNvPr>
          <p:cNvPicPr>
            <a:picLocks noChangeAspect="1"/>
          </p:cNvPicPr>
          <p:nvPr/>
        </p:nvPicPr>
        <p:blipFill>
          <a:blip r:embed="rId2"/>
          <a:stretch>
            <a:fillRect/>
          </a:stretch>
        </p:blipFill>
        <p:spPr>
          <a:xfrm>
            <a:off x="698090" y="3829110"/>
            <a:ext cx="7157181" cy="2294913"/>
          </a:xfrm>
          <a:prstGeom prst="rect">
            <a:avLst/>
          </a:prstGeom>
        </p:spPr>
      </p:pic>
      <p:sp>
        <p:nvSpPr>
          <p:cNvPr id="6" name="TextBox 5">
            <a:extLst>
              <a:ext uri="{FF2B5EF4-FFF2-40B4-BE49-F238E27FC236}">
                <a16:creationId xmlns:a16="http://schemas.microsoft.com/office/drawing/2014/main" id="{F30A4F33-1AA7-1D59-B08D-817C5A99F1A5}"/>
              </a:ext>
            </a:extLst>
          </p:cNvPr>
          <p:cNvSpPr txBox="1"/>
          <p:nvPr/>
        </p:nvSpPr>
        <p:spPr>
          <a:xfrm>
            <a:off x="698090" y="341272"/>
            <a:ext cx="3712876" cy="707886"/>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5. Employee Qualification Table</a:t>
            </a:r>
            <a:endParaRPr lang="en-IN" sz="2000" b="1" dirty="0">
              <a:latin typeface="Times New Roman" panose="02020603050405020304" pitchFamily="18" charset="0"/>
              <a:cs typeface="Times New Roman" panose="02020603050405020304" pitchFamily="18" charset="0"/>
            </a:endParaRPr>
          </a:p>
          <a:p>
            <a:endParaRPr lang="en-IN" sz="2000" dirty="0"/>
          </a:p>
        </p:txBody>
      </p:sp>
      <p:pic>
        <p:nvPicPr>
          <p:cNvPr id="11" name="Picture 10">
            <a:extLst>
              <a:ext uri="{FF2B5EF4-FFF2-40B4-BE49-F238E27FC236}">
                <a16:creationId xmlns:a16="http://schemas.microsoft.com/office/drawing/2014/main" id="{10520FD3-1D23-7F29-76CC-B48CF8EC95B1}"/>
              </a:ext>
            </a:extLst>
          </p:cNvPr>
          <p:cNvPicPr>
            <a:picLocks noChangeAspect="1"/>
          </p:cNvPicPr>
          <p:nvPr/>
        </p:nvPicPr>
        <p:blipFill>
          <a:blip r:embed="rId3"/>
          <a:stretch>
            <a:fillRect/>
          </a:stretch>
        </p:blipFill>
        <p:spPr>
          <a:xfrm>
            <a:off x="698090" y="813194"/>
            <a:ext cx="7157180" cy="2294913"/>
          </a:xfrm>
          <a:prstGeom prst="rect">
            <a:avLst/>
          </a:prstGeom>
        </p:spPr>
      </p:pic>
      <p:pic>
        <p:nvPicPr>
          <p:cNvPr id="3" name="Picture 2">
            <a:extLst>
              <a:ext uri="{FF2B5EF4-FFF2-40B4-BE49-F238E27FC236}">
                <a16:creationId xmlns:a16="http://schemas.microsoft.com/office/drawing/2014/main" id="{9808436B-5D6B-4E8E-77BE-B40081330307}"/>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1080142932"/>
      </p:ext>
    </p:extLst>
  </p:cSld>
  <p:clrMapOvr>
    <a:masterClrMapping/>
  </p:clrMapOvr>
  <p:transition spd="slow">
    <p:randomBar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19919A9-F7E7-8E40-DC32-FD0A92B8A9FD}"/>
              </a:ext>
            </a:extLst>
          </p:cNvPr>
          <p:cNvSpPr txBox="1"/>
          <p:nvPr/>
        </p:nvSpPr>
        <p:spPr>
          <a:xfrm>
            <a:off x="4768645" y="167149"/>
            <a:ext cx="2920181" cy="480131"/>
          </a:xfrm>
          <a:prstGeom prst="rect">
            <a:avLst/>
          </a:prstGeom>
          <a:noFill/>
        </p:spPr>
        <p:txBody>
          <a:bodyPr wrap="square">
            <a:spAutoFit/>
          </a:bodyPr>
          <a:lstStyle/>
          <a:p>
            <a:pPr marL="25400" lvl="0" algn="l" rtl="0">
              <a:lnSpc>
                <a:spcPct val="90000"/>
              </a:lnSpc>
              <a:spcBef>
                <a:spcPts val="1000"/>
              </a:spcBef>
              <a:spcAft>
                <a:spcPts val="0"/>
              </a:spcAft>
              <a:buSzPts val="2400"/>
            </a:pPr>
            <a:r>
              <a:rPr lang="en-IN" sz="2800" b="1" dirty="0">
                <a:solidFill>
                  <a:srgbClr val="FF0000"/>
                </a:solidFill>
              </a:rPr>
              <a:t>ER Diagram</a:t>
            </a:r>
            <a:endParaRPr lang="en-IN" sz="2800" dirty="0">
              <a:solidFill>
                <a:srgbClr val="FF0000"/>
              </a:solidFill>
            </a:endParaRPr>
          </a:p>
        </p:txBody>
      </p:sp>
      <p:pic>
        <p:nvPicPr>
          <p:cNvPr id="5" name="Picture 4">
            <a:extLst>
              <a:ext uri="{FF2B5EF4-FFF2-40B4-BE49-F238E27FC236}">
                <a16:creationId xmlns:a16="http://schemas.microsoft.com/office/drawing/2014/main" id="{EE9D7A66-F2FE-D4B7-5153-4F9E0E57F238}"/>
              </a:ext>
            </a:extLst>
          </p:cNvPr>
          <p:cNvPicPr>
            <a:picLocks noChangeAspect="1"/>
          </p:cNvPicPr>
          <p:nvPr/>
        </p:nvPicPr>
        <p:blipFill>
          <a:blip r:embed="rId2"/>
          <a:stretch>
            <a:fillRect/>
          </a:stretch>
        </p:blipFill>
        <p:spPr>
          <a:xfrm>
            <a:off x="501445" y="597429"/>
            <a:ext cx="8780207" cy="5501614"/>
          </a:xfrm>
          <a:prstGeom prst="rect">
            <a:avLst/>
          </a:prstGeom>
        </p:spPr>
      </p:pic>
      <p:pic>
        <p:nvPicPr>
          <p:cNvPr id="2" name="Picture 1">
            <a:extLst>
              <a:ext uri="{FF2B5EF4-FFF2-40B4-BE49-F238E27FC236}">
                <a16:creationId xmlns:a16="http://schemas.microsoft.com/office/drawing/2014/main" id="{42C03937-ACC0-D4D8-A242-A40658580DD1}"/>
              </a:ext>
            </a:extLst>
          </p:cNvPr>
          <p:cNvPicPr>
            <a:picLocks noChangeAspect="1"/>
          </p:cNvPicPr>
          <p:nvPr/>
        </p:nvPicPr>
        <p:blipFill>
          <a:blip r:embed="rId3"/>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143296723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D7EB4C-108D-9AFC-D0AC-D7A084E92E7F}"/>
              </a:ext>
            </a:extLst>
          </p:cNvPr>
          <p:cNvSpPr txBox="1"/>
          <p:nvPr/>
        </p:nvSpPr>
        <p:spPr>
          <a:xfrm>
            <a:off x="324465" y="720353"/>
            <a:ext cx="5004620" cy="6078587"/>
          </a:xfrm>
          <a:prstGeom prst="rect">
            <a:avLst/>
          </a:prstGeom>
          <a:noFill/>
        </p:spPr>
        <p:txBody>
          <a:bodyPr wrap="square">
            <a:spAutoFit/>
          </a:bodyPr>
          <a:lstStyle/>
          <a:p>
            <a:pPr rtl="0">
              <a:spcBef>
                <a:spcPts val="1400"/>
              </a:spcBef>
              <a:spcAft>
                <a:spcPts val="400"/>
              </a:spcAft>
              <a:buNone/>
            </a:pPr>
            <a:r>
              <a:rPr lang="en-US" sz="1600" b="1" i="0" u="none" strike="noStrike" dirty="0">
                <a:solidFill>
                  <a:srgbClr val="000000"/>
                </a:solidFill>
                <a:effectLst/>
                <a:latin typeface="Times New Roman" panose="02020603050405020304" pitchFamily="18" charset="0"/>
                <a:cs typeface="Times New Roman" panose="02020603050405020304" pitchFamily="18" charset="0"/>
              </a:rPr>
              <a:t> 1. EMPLOYEE INSIGHTS</a:t>
            </a:r>
            <a:endParaRPr lang="en-US" b="1" dirty="0">
              <a:effectLst/>
              <a:latin typeface="Times New Roman" panose="02020603050405020304" pitchFamily="18" charset="0"/>
              <a:cs typeface="Times New Roman" panose="02020603050405020304" pitchFamily="18" charset="0"/>
            </a:endParaRPr>
          </a:p>
          <a:p>
            <a:pPr rtl="0" fontAlgn="base">
              <a:spcBef>
                <a:spcPts val="1200"/>
              </a:spcBef>
            </a:pPr>
            <a:r>
              <a:rPr lang="en-US" sz="1500" i="0" u="none" strike="noStrike" dirty="0">
                <a:solidFill>
                  <a:srgbClr val="000000"/>
                </a:solidFill>
                <a:effectLst/>
                <a:latin typeface="Times New Roman" panose="02020603050405020304" pitchFamily="18" charset="0"/>
                <a:cs typeface="Times New Roman" panose="02020603050405020304" pitchFamily="18" charset="0"/>
              </a:rPr>
              <a:t>1.1</a:t>
            </a:r>
            <a:r>
              <a:rPr lang="en-US" sz="1500" b="0" i="0" u="none" strike="noStrike" dirty="0">
                <a:solidFill>
                  <a:srgbClr val="000000"/>
                </a:solidFill>
                <a:effectLst/>
                <a:latin typeface="Times New Roman" panose="02020603050405020304" pitchFamily="18" charset="0"/>
                <a:cs typeface="Times New Roman" panose="02020603050405020304" pitchFamily="18" charset="0"/>
              </a:rPr>
              <a:t>  How many unique employees are currently in the system?</a:t>
            </a:r>
            <a:br>
              <a:rPr lang="en-US" sz="15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5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r>
              <a:rPr lang="en-US" sz="1500" i="0" u="none" strike="noStrike" dirty="0">
                <a:solidFill>
                  <a:srgbClr val="000000"/>
                </a:solidFill>
                <a:effectLst/>
                <a:latin typeface="Times New Roman" panose="02020603050405020304" pitchFamily="18" charset="0"/>
                <a:cs typeface="Times New Roman" panose="02020603050405020304" pitchFamily="18" charset="0"/>
              </a:rPr>
              <a:t>1.2</a:t>
            </a:r>
            <a:r>
              <a:rPr lang="en-US" sz="1500" b="0" i="0" u="none" strike="noStrike" dirty="0">
                <a:solidFill>
                  <a:srgbClr val="000000"/>
                </a:solidFill>
                <a:effectLst/>
                <a:latin typeface="Times New Roman" panose="02020603050405020304" pitchFamily="18" charset="0"/>
                <a:cs typeface="Times New Roman" panose="02020603050405020304" pitchFamily="18" charset="0"/>
              </a:rPr>
              <a:t>  Which departments have the highest number of employees?</a:t>
            </a:r>
            <a:br>
              <a:rPr lang="en-US" sz="15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5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r>
              <a:rPr lang="en-US" sz="1500" b="0" i="0" u="none" strike="noStrike" dirty="0">
                <a:solidFill>
                  <a:srgbClr val="000000"/>
                </a:solidFill>
                <a:effectLst/>
                <a:latin typeface="Times New Roman" panose="02020603050405020304" pitchFamily="18" charset="0"/>
                <a:cs typeface="Times New Roman" panose="02020603050405020304" pitchFamily="18" charset="0"/>
              </a:rPr>
              <a:t>1.3  What is the average salary per department?</a:t>
            </a:r>
            <a:br>
              <a:rPr lang="en-US" sz="15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5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r>
              <a:rPr lang="en-US" sz="1500" b="0" i="0" u="none" strike="noStrike" dirty="0">
                <a:solidFill>
                  <a:srgbClr val="000000"/>
                </a:solidFill>
                <a:effectLst/>
                <a:latin typeface="Times New Roman" panose="02020603050405020304" pitchFamily="18" charset="0"/>
                <a:cs typeface="Times New Roman" panose="02020603050405020304" pitchFamily="18" charset="0"/>
              </a:rPr>
              <a:t>1.4  Who are the top 5 highest-paid employees?</a:t>
            </a:r>
            <a:endParaRPr lang="en-US" sz="1500" dirty="0">
              <a:latin typeface="Times New Roman" panose="02020603050405020304" pitchFamily="18" charset="0"/>
              <a:cs typeface="Times New Roman" panose="02020603050405020304" pitchFamily="18" charset="0"/>
            </a:endParaRPr>
          </a:p>
          <a:p>
            <a:pPr rtl="0" fontAlgn="base">
              <a:buFont typeface="Arial" panose="020B0604020202020204" pitchFamily="34" charset="0"/>
              <a:buChar char="•"/>
            </a:pPr>
            <a:endParaRPr lang="en-US" sz="15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spcAft>
                <a:spcPts val="1200"/>
              </a:spcAft>
            </a:pPr>
            <a:r>
              <a:rPr lang="en-US" sz="1500" b="0" i="0" u="none" strike="noStrike" dirty="0">
                <a:solidFill>
                  <a:srgbClr val="000000"/>
                </a:solidFill>
                <a:effectLst/>
                <a:latin typeface="Times New Roman" panose="02020603050405020304" pitchFamily="18" charset="0"/>
                <a:cs typeface="Times New Roman" panose="02020603050405020304" pitchFamily="18" charset="0"/>
              </a:rPr>
              <a:t>1.5  What is the total salary expenditure across the company?</a:t>
            </a:r>
            <a:br>
              <a:rPr lang="en-US" sz="1600" b="0" i="0" u="none" strike="noStrike" dirty="0">
                <a:solidFill>
                  <a:srgbClr val="000000"/>
                </a:solidFill>
                <a:effectLst/>
                <a:latin typeface="Times New Roman" panose="02020603050405020304" pitchFamily="18" charset="0"/>
                <a:cs typeface="Times New Roman" panose="02020603050405020304" pitchFamily="18" charset="0"/>
              </a:rPr>
            </a:br>
            <a:br>
              <a:rPr lang="en-US" sz="1800" b="0" i="0" u="none" strike="noStrike" dirty="0">
                <a:solidFill>
                  <a:srgbClr val="000000"/>
                </a:solidFill>
                <a:effectLst/>
                <a:latin typeface="Times New Roman" panose="02020603050405020304" pitchFamily="18" charset="0"/>
                <a:cs typeface="Times New Roman" panose="02020603050405020304" pitchFamily="18" charset="0"/>
              </a:rPr>
            </a:br>
            <a:r>
              <a:rPr lang="en-US" sz="1600" b="1" i="0" u="none" strike="noStrike" dirty="0">
                <a:solidFill>
                  <a:srgbClr val="000000"/>
                </a:solidFill>
                <a:effectLst/>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2</a:t>
            </a:r>
            <a:r>
              <a:rPr lang="en-US" sz="1600" b="1" i="0" u="none" strike="noStrike" dirty="0">
                <a:solidFill>
                  <a:srgbClr val="000000"/>
                </a:solidFill>
                <a:effectLst/>
                <a:latin typeface="Times New Roman" panose="02020603050405020304" pitchFamily="18" charset="0"/>
                <a:cs typeface="Times New Roman" panose="02020603050405020304" pitchFamily="18" charset="0"/>
              </a:rPr>
              <a:t>. JOB ROLE AND DEPARTMENT ANALYSIS</a:t>
            </a:r>
            <a:endParaRPr lang="en-US" b="1" dirty="0">
              <a:effectLst/>
              <a:latin typeface="Times New Roman" panose="02020603050405020304" pitchFamily="18" charset="0"/>
              <a:cs typeface="Times New Roman" panose="02020603050405020304" pitchFamily="18" charset="0"/>
            </a:endParaRPr>
          </a:p>
          <a:p>
            <a:pPr rtl="0" fontAlgn="base">
              <a:spcBef>
                <a:spcPts val="1200"/>
              </a:spcBef>
            </a:pPr>
            <a:r>
              <a:rPr lang="en-US" sz="1500" b="0" i="0" u="none" strike="noStrike" dirty="0">
                <a:solidFill>
                  <a:srgbClr val="000000"/>
                </a:solidFill>
                <a:effectLst/>
                <a:latin typeface="Times New Roman" panose="02020603050405020304" pitchFamily="18" charset="0"/>
                <a:cs typeface="Times New Roman" panose="02020603050405020304" pitchFamily="18" charset="0"/>
              </a:rPr>
              <a:t>2.1  How many different job roles exist in each department?</a:t>
            </a:r>
            <a:br>
              <a:rPr lang="en-US" sz="15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5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r>
              <a:rPr lang="en-US" sz="1500" b="0" i="0" u="none" strike="noStrike" dirty="0">
                <a:solidFill>
                  <a:srgbClr val="000000"/>
                </a:solidFill>
                <a:effectLst/>
                <a:latin typeface="Times New Roman" panose="02020603050405020304" pitchFamily="18" charset="0"/>
                <a:cs typeface="Times New Roman" panose="02020603050405020304" pitchFamily="18" charset="0"/>
              </a:rPr>
              <a:t>2.2  What is the average salary range per department?</a:t>
            </a:r>
            <a:br>
              <a:rPr lang="en-US" sz="15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5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r>
              <a:rPr lang="en-US" sz="1500" b="0" i="0" u="none" strike="noStrike" dirty="0">
                <a:solidFill>
                  <a:srgbClr val="000000"/>
                </a:solidFill>
                <a:effectLst/>
                <a:latin typeface="Times New Roman" panose="02020603050405020304" pitchFamily="18" charset="0"/>
                <a:cs typeface="Times New Roman" panose="02020603050405020304" pitchFamily="18" charset="0"/>
              </a:rPr>
              <a:t>2.3  Which job roles offer the highest salary?</a:t>
            </a:r>
            <a:br>
              <a:rPr lang="en-US" sz="15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5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spcAft>
                <a:spcPts val="1200"/>
              </a:spcAft>
            </a:pPr>
            <a:r>
              <a:rPr lang="en-US" sz="1500" b="0" i="0" u="none" strike="noStrike" dirty="0">
                <a:solidFill>
                  <a:srgbClr val="000000"/>
                </a:solidFill>
                <a:effectLst/>
                <a:latin typeface="Times New Roman" panose="02020603050405020304" pitchFamily="18" charset="0"/>
                <a:cs typeface="Times New Roman" panose="02020603050405020304" pitchFamily="18" charset="0"/>
              </a:rPr>
              <a:t>2.4  Which departments have the highest total salary allocation?</a:t>
            </a:r>
          </a:p>
          <a:p>
            <a:pPr rtl="0">
              <a:spcBef>
                <a:spcPts val="1400"/>
              </a:spcBef>
              <a:spcAft>
                <a:spcPts val="400"/>
              </a:spcAft>
              <a:buNone/>
            </a:pP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65217BA-80A1-8DAD-BEB9-1683ACF5848C}"/>
              </a:ext>
            </a:extLst>
          </p:cNvPr>
          <p:cNvSpPr txBox="1"/>
          <p:nvPr/>
        </p:nvSpPr>
        <p:spPr>
          <a:xfrm>
            <a:off x="3460954" y="59060"/>
            <a:ext cx="6096000" cy="523220"/>
          </a:xfrm>
          <a:prstGeom prst="rect">
            <a:avLst/>
          </a:prstGeom>
          <a:noFill/>
        </p:spPr>
        <p:txBody>
          <a:bodyPr wrap="square">
            <a:spAutoFit/>
          </a:bodyPr>
          <a:lstStyle/>
          <a:p>
            <a:r>
              <a:rPr lang="en-US" sz="2800" b="1" u="sng" dirty="0">
                <a:solidFill>
                  <a:srgbClr val="FF0000"/>
                </a:solidFill>
                <a:latin typeface="Times New Roman" panose="02020603050405020304" pitchFamily="18" charset="0"/>
                <a:cs typeface="Times New Roman" panose="02020603050405020304" pitchFamily="18" charset="0"/>
              </a:rPr>
              <a:t>Key Analysis Questions (Use Cases)</a:t>
            </a:r>
            <a:endParaRPr lang="en-IN" sz="2800" dirty="0">
              <a:solidFill>
                <a:srgbClr val="FF0000"/>
              </a:solidFill>
            </a:endParaRPr>
          </a:p>
        </p:txBody>
      </p:sp>
      <p:sp>
        <p:nvSpPr>
          <p:cNvPr id="7" name="TextBox 6">
            <a:extLst>
              <a:ext uri="{FF2B5EF4-FFF2-40B4-BE49-F238E27FC236}">
                <a16:creationId xmlns:a16="http://schemas.microsoft.com/office/drawing/2014/main" id="{4A5EE1C3-8EAB-C07A-C13C-CB20A1EF3D0E}"/>
              </a:ext>
            </a:extLst>
          </p:cNvPr>
          <p:cNvSpPr txBox="1"/>
          <p:nvPr/>
        </p:nvSpPr>
        <p:spPr>
          <a:xfrm>
            <a:off x="5771535" y="720353"/>
            <a:ext cx="6096000" cy="5083443"/>
          </a:xfrm>
          <a:prstGeom prst="rect">
            <a:avLst/>
          </a:prstGeom>
          <a:noFill/>
        </p:spPr>
        <p:txBody>
          <a:bodyPr wrap="square">
            <a:spAutoFit/>
          </a:bodyPr>
          <a:lstStyle/>
          <a:p>
            <a:pPr rtl="0">
              <a:spcBef>
                <a:spcPts val="1400"/>
              </a:spcBef>
              <a:spcAft>
                <a:spcPts val="400"/>
              </a:spcAft>
              <a:buNone/>
            </a:pPr>
            <a:r>
              <a:rPr lang="en-US" sz="1600" b="1" i="0" u="none" strike="noStrike" dirty="0">
                <a:solidFill>
                  <a:srgbClr val="000000"/>
                </a:solidFill>
                <a:effectLst/>
                <a:latin typeface="Times New Roman" panose="02020603050405020304" pitchFamily="18" charset="0"/>
                <a:cs typeface="Times New Roman" panose="02020603050405020304" pitchFamily="18" charset="0"/>
              </a:rPr>
              <a:t>3. QUALIFICATION AND SKILLS ANALYSIS</a:t>
            </a:r>
            <a:endParaRPr lang="en-US" b="1" dirty="0">
              <a:effectLst/>
              <a:latin typeface="Times New Roman" panose="02020603050405020304" pitchFamily="18" charset="0"/>
              <a:cs typeface="Times New Roman" panose="02020603050405020304" pitchFamily="18" charset="0"/>
            </a:endParaRPr>
          </a:p>
          <a:p>
            <a:pPr rtl="0" fontAlgn="base">
              <a:spcBef>
                <a:spcPts val="1200"/>
              </a:spcBef>
            </a:pPr>
            <a:r>
              <a:rPr lang="en-US" sz="1500" b="0" i="0" u="none" strike="noStrike" dirty="0">
                <a:solidFill>
                  <a:srgbClr val="000000"/>
                </a:solidFill>
                <a:effectLst/>
                <a:latin typeface="Times New Roman" panose="02020603050405020304" pitchFamily="18" charset="0"/>
                <a:cs typeface="Times New Roman" panose="02020603050405020304" pitchFamily="18" charset="0"/>
              </a:rPr>
              <a:t>3.1  How many employees have at least one qualification listed?</a:t>
            </a:r>
            <a:br>
              <a:rPr lang="en-US" sz="15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5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r>
              <a:rPr lang="en-US" sz="1500" b="0" i="0" u="none" strike="noStrike" dirty="0">
                <a:solidFill>
                  <a:srgbClr val="000000"/>
                </a:solidFill>
                <a:effectLst/>
                <a:latin typeface="Times New Roman" panose="02020603050405020304" pitchFamily="18" charset="0"/>
                <a:cs typeface="Times New Roman" panose="02020603050405020304" pitchFamily="18" charset="0"/>
              </a:rPr>
              <a:t>3.2  Which positions require the most qualifications?</a:t>
            </a:r>
            <a:br>
              <a:rPr lang="en-US" sz="15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5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spcAft>
                <a:spcPts val="1200"/>
              </a:spcAft>
            </a:pPr>
            <a:r>
              <a:rPr lang="en-US" sz="1500" b="0" i="0" u="none" strike="noStrike" dirty="0">
                <a:solidFill>
                  <a:srgbClr val="000000"/>
                </a:solidFill>
                <a:effectLst/>
                <a:latin typeface="Times New Roman" panose="02020603050405020304" pitchFamily="18" charset="0"/>
                <a:cs typeface="Times New Roman" panose="02020603050405020304" pitchFamily="18" charset="0"/>
              </a:rPr>
              <a:t>3.3  Which employees have the highest number of qualifications?</a:t>
            </a:r>
          </a:p>
          <a:p>
            <a:pPr rtl="0" fontAlgn="base">
              <a:spcAft>
                <a:spcPts val="1200"/>
              </a:spcAft>
            </a:pPr>
            <a:endParaRPr lang="en-US" dirty="0">
              <a:latin typeface="Times New Roman" panose="02020603050405020304" pitchFamily="18" charset="0"/>
              <a:cs typeface="Times New Roman" panose="02020603050405020304" pitchFamily="18" charset="0"/>
            </a:endParaRPr>
          </a:p>
          <a:p>
            <a:pPr rtl="0" fontAlgn="base">
              <a:spcAft>
                <a:spcPts val="1200"/>
              </a:spcAft>
            </a:pPr>
            <a:r>
              <a:rPr lang="en-US" sz="1600" b="1" i="0" u="none" strike="noStrike" dirty="0">
                <a:solidFill>
                  <a:srgbClr val="000000"/>
                </a:solidFill>
                <a:effectLst/>
                <a:latin typeface="Times New Roman" panose="02020603050405020304" pitchFamily="18" charset="0"/>
                <a:cs typeface="Times New Roman" panose="02020603050405020304" pitchFamily="18" charset="0"/>
              </a:rPr>
              <a:t>4. LEAVE AND ABSENCE PATTERNS</a:t>
            </a:r>
            <a:endParaRPr lang="en-US" b="1" dirty="0">
              <a:effectLst/>
              <a:latin typeface="Times New Roman" panose="02020603050405020304" pitchFamily="18" charset="0"/>
              <a:cs typeface="Times New Roman" panose="02020603050405020304" pitchFamily="18" charset="0"/>
            </a:endParaRPr>
          </a:p>
          <a:p>
            <a:pPr rtl="0" fontAlgn="base">
              <a:spcBef>
                <a:spcPts val="1200"/>
              </a:spcBef>
            </a:pPr>
            <a:r>
              <a:rPr lang="en-US" sz="1500" b="0" i="0" u="none" strike="noStrike" dirty="0">
                <a:solidFill>
                  <a:srgbClr val="000000"/>
                </a:solidFill>
                <a:effectLst/>
                <a:latin typeface="Times New Roman" panose="02020603050405020304" pitchFamily="18" charset="0"/>
                <a:cs typeface="Times New Roman" panose="02020603050405020304" pitchFamily="18" charset="0"/>
              </a:rPr>
              <a:t>4.1  Which year had the most employees taking leaves?</a:t>
            </a:r>
            <a:br>
              <a:rPr lang="en-US" sz="15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5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r>
              <a:rPr lang="en-US" sz="1500" b="0" i="0" u="none" strike="noStrike" dirty="0">
                <a:solidFill>
                  <a:srgbClr val="000000"/>
                </a:solidFill>
                <a:effectLst/>
                <a:latin typeface="Times New Roman" panose="02020603050405020304" pitchFamily="18" charset="0"/>
                <a:cs typeface="Times New Roman" panose="02020603050405020304" pitchFamily="18" charset="0"/>
              </a:rPr>
              <a:t>4.2  What is the average number of leave days taken by its employees per    department?</a:t>
            </a:r>
            <a:br>
              <a:rPr lang="en-US" sz="15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5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r>
              <a:rPr lang="en-US" sz="1500" b="0" i="0" u="none" strike="noStrike" dirty="0">
                <a:solidFill>
                  <a:srgbClr val="000000"/>
                </a:solidFill>
                <a:effectLst/>
                <a:latin typeface="Times New Roman" panose="02020603050405020304" pitchFamily="18" charset="0"/>
                <a:cs typeface="Times New Roman" panose="02020603050405020304" pitchFamily="18" charset="0"/>
              </a:rPr>
              <a:t>4.3  Which employees have taken the most leaves?</a:t>
            </a:r>
            <a:br>
              <a:rPr lang="en-US" sz="15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5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r>
              <a:rPr lang="en-US" sz="1500" b="0" i="0" u="none" strike="noStrike" dirty="0">
                <a:solidFill>
                  <a:srgbClr val="000000"/>
                </a:solidFill>
                <a:effectLst/>
                <a:latin typeface="Times New Roman" panose="02020603050405020304" pitchFamily="18" charset="0"/>
                <a:cs typeface="Times New Roman" panose="02020603050405020304" pitchFamily="18" charset="0"/>
              </a:rPr>
              <a:t>4.4  What is the total number of leave days taken company-wide?</a:t>
            </a:r>
            <a:br>
              <a:rPr lang="en-US" sz="15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5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spcAft>
                <a:spcPts val="1200"/>
              </a:spcAft>
            </a:pPr>
            <a:r>
              <a:rPr lang="en-US" sz="1500" b="0" i="0" u="none" strike="noStrike" dirty="0">
                <a:solidFill>
                  <a:srgbClr val="000000"/>
                </a:solidFill>
                <a:effectLst/>
                <a:latin typeface="Times New Roman" panose="02020603050405020304" pitchFamily="18" charset="0"/>
                <a:cs typeface="Times New Roman" panose="02020603050405020304" pitchFamily="18" charset="0"/>
              </a:rPr>
              <a:t>4.5  How do leave days correlate with payroll amounts?</a:t>
            </a:r>
            <a:endParaRPr lang="en-IN" sz="15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2F7F1B25-1A77-22C7-B9C4-32A1A3A7E66C}"/>
              </a:ext>
            </a:extLst>
          </p:cNvPr>
          <p:cNvPicPr>
            <a:picLocks noChangeAspect="1"/>
          </p:cNvPicPr>
          <p:nvPr/>
        </p:nvPicPr>
        <p:blipFill>
          <a:blip r:embed="rId2"/>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391939517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81AC097-8471-CE17-C8BB-A0C64A3EA327}"/>
              </a:ext>
            </a:extLst>
          </p:cNvPr>
          <p:cNvSpPr txBox="1"/>
          <p:nvPr/>
        </p:nvSpPr>
        <p:spPr>
          <a:xfrm>
            <a:off x="698089" y="443561"/>
            <a:ext cx="6096000" cy="2513509"/>
          </a:xfrm>
          <a:prstGeom prst="rect">
            <a:avLst/>
          </a:prstGeom>
          <a:noFill/>
        </p:spPr>
        <p:txBody>
          <a:bodyPr wrap="square">
            <a:spAutoFit/>
          </a:bodyPr>
          <a:lstStyle/>
          <a:p>
            <a:pPr rtl="0">
              <a:spcBef>
                <a:spcPts val="1400"/>
              </a:spcBef>
              <a:spcAft>
                <a:spcPts val="400"/>
              </a:spcAft>
              <a:buNone/>
            </a:pPr>
            <a:r>
              <a:rPr lang="en-US" sz="1600" b="1" i="0" u="none" strike="noStrike" dirty="0">
                <a:solidFill>
                  <a:srgbClr val="000000"/>
                </a:solidFill>
                <a:effectLst/>
                <a:latin typeface="Times New Roman" panose="02020603050405020304" pitchFamily="18" charset="0"/>
                <a:cs typeface="Times New Roman" panose="02020603050405020304" pitchFamily="18" charset="0"/>
              </a:rPr>
              <a:t>5. PAYROLL AND COMPENSATION ANALYSIS</a:t>
            </a:r>
            <a:endParaRPr lang="en-US" b="1" dirty="0">
              <a:effectLst/>
              <a:latin typeface="Times New Roman" panose="02020603050405020304" pitchFamily="18" charset="0"/>
              <a:cs typeface="Times New Roman" panose="02020603050405020304" pitchFamily="18" charset="0"/>
            </a:endParaRPr>
          </a:p>
          <a:p>
            <a:pPr rtl="0" fontAlgn="base">
              <a:spcBef>
                <a:spcPts val="1200"/>
              </a:spcBef>
            </a:pPr>
            <a:r>
              <a:rPr lang="en-US" sz="1600" b="0" i="0" u="none" strike="noStrike" dirty="0">
                <a:solidFill>
                  <a:srgbClr val="000000"/>
                </a:solidFill>
                <a:effectLst/>
                <a:latin typeface="Times New Roman" panose="02020603050405020304" pitchFamily="18" charset="0"/>
                <a:cs typeface="Times New Roman" panose="02020603050405020304" pitchFamily="18" charset="0"/>
              </a:rPr>
              <a:t>5.1  What is the total monthly payroll processed?</a:t>
            </a:r>
            <a:br>
              <a:rPr lang="en-US" sz="16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r>
              <a:rPr lang="en-US" sz="1600" b="0" i="0" u="none" strike="noStrike" dirty="0">
                <a:solidFill>
                  <a:srgbClr val="000000"/>
                </a:solidFill>
                <a:effectLst/>
                <a:latin typeface="Times New Roman" panose="02020603050405020304" pitchFamily="18" charset="0"/>
                <a:cs typeface="Times New Roman" panose="02020603050405020304" pitchFamily="18" charset="0"/>
              </a:rPr>
              <a:t>5.2  What is the average bonus given per department?</a:t>
            </a:r>
            <a:br>
              <a:rPr lang="en-US" sz="16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r>
              <a:rPr lang="en-US" sz="1600" b="0" i="0" u="none" strike="noStrike" dirty="0">
                <a:solidFill>
                  <a:srgbClr val="000000"/>
                </a:solidFill>
                <a:effectLst/>
                <a:latin typeface="Times New Roman" panose="02020603050405020304" pitchFamily="18" charset="0"/>
                <a:cs typeface="Times New Roman" panose="02020603050405020304" pitchFamily="18" charset="0"/>
              </a:rPr>
              <a:t>5.3  Which department receives the highest total bonuses?</a:t>
            </a:r>
            <a:br>
              <a:rPr lang="en-US" sz="16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spcAft>
                <a:spcPts val="1200"/>
              </a:spcAft>
            </a:pPr>
            <a:r>
              <a:rPr lang="en-US" sz="1600" b="0" i="0" u="none" strike="noStrike" dirty="0">
                <a:solidFill>
                  <a:srgbClr val="000000"/>
                </a:solidFill>
                <a:effectLst/>
                <a:latin typeface="Times New Roman" panose="02020603050405020304" pitchFamily="18" charset="0"/>
                <a:cs typeface="Times New Roman" panose="02020603050405020304" pitchFamily="18" charset="0"/>
              </a:rPr>
              <a:t>5.4  What is the average value of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total_amount</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after considering leave deductions?</a:t>
            </a:r>
          </a:p>
        </p:txBody>
      </p:sp>
      <p:pic>
        <p:nvPicPr>
          <p:cNvPr id="2" name="Picture 1">
            <a:extLst>
              <a:ext uri="{FF2B5EF4-FFF2-40B4-BE49-F238E27FC236}">
                <a16:creationId xmlns:a16="http://schemas.microsoft.com/office/drawing/2014/main" id="{F9507906-10F6-5232-EE14-4FB6CE5FE9DD}"/>
              </a:ext>
            </a:extLst>
          </p:cNvPr>
          <p:cNvPicPr>
            <a:picLocks noChangeAspect="1"/>
          </p:cNvPicPr>
          <p:nvPr/>
        </p:nvPicPr>
        <p:blipFill>
          <a:blip r:embed="rId2"/>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166545984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B7CC2B2-A9FA-47F1-DA3F-75C07952595A}"/>
              </a:ext>
            </a:extLst>
          </p:cNvPr>
          <p:cNvSpPr txBox="1"/>
          <p:nvPr/>
        </p:nvSpPr>
        <p:spPr>
          <a:xfrm>
            <a:off x="6636775" y="2049698"/>
            <a:ext cx="6096000" cy="707886"/>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Insight :</a:t>
            </a:r>
          </a:p>
          <a:p>
            <a:endParaRPr lang="en-IN"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64F72351-F222-76A6-46FA-6C4A6F2D4EDB}"/>
              </a:ext>
            </a:extLst>
          </p:cNvPr>
          <p:cNvSpPr txBox="1"/>
          <p:nvPr/>
        </p:nvSpPr>
        <p:spPr>
          <a:xfrm>
            <a:off x="6636775" y="2551837"/>
            <a:ext cx="4871884" cy="1477328"/>
          </a:xfrm>
          <a:prstGeom prst="rect">
            <a:avLst/>
          </a:prstGeom>
          <a:noFill/>
        </p:spPr>
        <p:txBody>
          <a:bodyPr wrap="square">
            <a:spAutoFit/>
          </a:bodyPr>
          <a:lstStyle/>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system currently records </a:t>
            </a:r>
            <a:r>
              <a:rPr lang="en-US" sz="1800" b="1" dirty="0">
                <a:latin typeface="Times New Roman" panose="02020603050405020304" pitchFamily="18" charset="0"/>
                <a:cs typeface="Times New Roman" panose="02020603050405020304" pitchFamily="18" charset="0"/>
              </a:rPr>
              <a:t>60 employees</a:t>
            </a:r>
            <a:r>
              <a:rPr lang="en-US" sz="1800" dirty="0">
                <a:latin typeface="Times New Roman" panose="02020603050405020304" pitchFamily="18" charset="0"/>
                <a:cs typeface="Times New Roman" panose="02020603050405020304" pitchFamily="18" charset="0"/>
              </a:rPr>
              <a:t>, representing the total workforce managed within the database. This dataset enables further analysis of department distribution, salary expenditure, leave patterns, and payroll trends.</a:t>
            </a:r>
            <a:endParaRPr lang="en-IN" sz="18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11FCFD1C-0132-E16B-FEDB-4455003AE843}"/>
              </a:ext>
            </a:extLst>
          </p:cNvPr>
          <p:cNvSpPr txBox="1"/>
          <p:nvPr/>
        </p:nvSpPr>
        <p:spPr>
          <a:xfrm>
            <a:off x="670942" y="1075139"/>
            <a:ext cx="8492722"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1.1 How Many Unique Employees are currently in the System?</a:t>
            </a:r>
            <a:endParaRPr lang="en-IN" sz="2400" b="1"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ECC1F055-B7AD-C72B-9C9A-E6DC42487589}"/>
              </a:ext>
            </a:extLst>
          </p:cNvPr>
          <p:cNvSpPr txBox="1"/>
          <p:nvPr/>
        </p:nvSpPr>
        <p:spPr>
          <a:xfrm>
            <a:off x="3193027" y="346177"/>
            <a:ext cx="6887496" cy="523220"/>
          </a:xfrm>
          <a:prstGeom prst="rect">
            <a:avLst/>
          </a:prstGeom>
          <a:noFill/>
        </p:spPr>
        <p:txBody>
          <a:bodyPr wrap="square">
            <a:spAutoFit/>
          </a:bodyPr>
          <a:lstStyle/>
          <a:p>
            <a:pPr rtl="0">
              <a:spcBef>
                <a:spcPts val="1400"/>
              </a:spcBef>
              <a:spcAft>
                <a:spcPts val="400"/>
              </a:spcAft>
              <a:buNone/>
            </a:pPr>
            <a:r>
              <a:rPr lang="en-US" sz="2800" b="1" i="0" u="none" strike="noStrike" dirty="0">
                <a:solidFill>
                  <a:srgbClr val="FF0000"/>
                </a:solidFill>
                <a:effectLst/>
                <a:latin typeface="Times New Roman" panose="02020603050405020304" pitchFamily="18" charset="0"/>
                <a:cs typeface="Times New Roman" panose="02020603050405020304" pitchFamily="18" charset="0"/>
              </a:rPr>
              <a:t> 1. EMPLOYEE INSIGHTS</a:t>
            </a:r>
            <a:endParaRPr lang="en-US" sz="2800" b="1" dirty="0">
              <a:solidFill>
                <a:srgbClr val="FF0000"/>
              </a:solidFill>
              <a:effectLst/>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770F363-2364-83BE-9BEA-E6355663A6C8}"/>
              </a:ext>
            </a:extLst>
          </p:cNvPr>
          <p:cNvPicPr>
            <a:picLocks noChangeAspect="1"/>
          </p:cNvPicPr>
          <p:nvPr/>
        </p:nvPicPr>
        <p:blipFill>
          <a:blip r:embed="rId2"/>
          <a:stretch>
            <a:fillRect/>
          </a:stretch>
        </p:blipFill>
        <p:spPr>
          <a:xfrm>
            <a:off x="670942" y="1888606"/>
            <a:ext cx="5133450" cy="638323"/>
          </a:xfrm>
          <a:prstGeom prst="rect">
            <a:avLst/>
          </a:prstGeom>
        </p:spPr>
      </p:pic>
      <p:pic>
        <p:nvPicPr>
          <p:cNvPr id="8" name="Picture 7">
            <a:extLst>
              <a:ext uri="{FF2B5EF4-FFF2-40B4-BE49-F238E27FC236}">
                <a16:creationId xmlns:a16="http://schemas.microsoft.com/office/drawing/2014/main" id="{F588AB63-26FD-4BFC-89D6-8E387BD1E6B8}"/>
              </a:ext>
            </a:extLst>
          </p:cNvPr>
          <p:cNvPicPr>
            <a:picLocks noChangeAspect="1"/>
          </p:cNvPicPr>
          <p:nvPr/>
        </p:nvPicPr>
        <p:blipFill>
          <a:blip r:embed="rId3"/>
          <a:stretch>
            <a:fillRect/>
          </a:stretch>
        </p:blipFill>
        <p:spPr>
          <a:xfrm>
            <a:off x="683341" y="3572873"/>
            <a:ext cx="2390251" cy="912583"/>
          </a:xfrm>
          <a:prstGeom prst="rect">
            <a:avLst/>
          </a:prstGeom>
        </p:spPr>
      </p:pic>
      <p:sp>
        <p:nvSpPr>
          <p:cNvPr id="10" name="TextBox 9">
            <a:extLst>
              <a:ext uri="{FF2B5EF4-FFF2-40B4-BE49-F238E27FC236}">
                <a16:creationId xmlns:a16="http://schemas.microsoft.com/office/drawing/2014/main" id="{B2785EFD-42B3-A5BA-C137-85085D4D8367}"/>
              </a:ext>
            </a:extLst>
          </p:cNvPr>
          <p:cNvSpPr txBox="1"/>
          <p:nvPr/>
        </p:nvSpPr>
        <p:spPr>
          <a:xfrm>
            <a:off x="748028" y="3085072"/>
            <a:ext cx="1130438"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Output :</a:t>
            </a:r>
            <a:endParaRPr lang="en-IN" sz="20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DC7F7A77-DBDF-668F-71F2-1A3BAF5C1009}"/>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33318521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A89AE7A-BD1F-C9DE-F207-7741F2B8BAC6}"/>
              </a:ext>
            </a:extLst>
          </p:cNvPr>
          <p:cNvPicPr>
            <a:picLocks noChangeAspect="1"/>
          </p:cNvPicPr>
          <p:nvPr/>
        </p:nvPicPr>
        <p:blipFill>
          <a:blip r:embed="rId2"/>
          <a:stretch>
            <a:fillRect/>
          </a:stretch>
        </p:blipFill>
        <p:spPr>
          <a:xfrm>
            <a:off x="826182" y="4313433"/>
            <a:ext cx="2619741" cy="1538560"/>
          </a:xfrm>
          <a:prstGeom prst="rect">
            <a:avLst/>
          </a:prstGeom>
        </p:spPr>
      </p:pic>
      <p:sp>
        <p:nvSpPr>
          <p:cNvPr id="9" name="TextBox 8">
            <a:extLst>
              <a:ext uri="{FF2B5EF4-FFF2-40B4-BE49-F238E27FC236}">
                <a16:creationId xmlns:a16="http://schemas.microsoft.com/office/drawing/2014/main" id="{915BC3FA-C822-21F0-7AF9-7369C5A78E32}"/>
              </a:ext>
            </a:extLst>
          </p:cNvPr>
          <p:cNvSpPr txBox="1"/>
          <p:nvPr/>
        </p:nvSpPr>
        <p:spPr>
          <a:xfrm>
            <a:off x="587756" y="779087"/>
            <a:ext cx="8526747"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1.2 Which departments have the highest number of employees?</a:t>
            </a:r>
          </a:p>
        </p:txBody>
      </p:sp>
      <p:sp>
        <p:nvSpPr>
          <p:cNvPr id="11" name="TextBox 10">
            <a:extLst>
              <a:ext uri="{FF2B5EF4-FFF2-40B4-BE49-F238E27FC236}">
                <a16:creationId xmlns:a16="http://schemas.microsoft.com/office/drawing/2014/main" id="{4D1825C6-4D2C-D4BB-53CA-C23E579104CE}"/>
              </a:ext>
            </a:extLst>
          </p:cNvPr>
          <p:cNvSpPr txBox="1"/>
          <p:nvPr/>
        </p:nvSpPr>
        <p:spPr>
          <a:xfrm>
            <a:off x="7568659" y="1920719"/>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a:t>
            </a:r>
            <a:r>
              <a:rPr lang="en-IN" sz="2400" b="1" dirty="0">
                <a:latin typeface="Times New Roman" panose="02020603050405020304" pitchFamily="18" charset="0"/>
                <a:cs typeface="Times New Roman" panose="02020603050405020304" pitchFamily="18" charset="0"/>
              </a:rPr>
              <a:t>nsight :</a:t>
            </a:r>
          </a:p>
        </p:txBody>
      </p:sp>
      <p:sp>
        <p:nvSpPr>
          <p:cNvPr id="13" name="TextBox 12">
            <a:extLst>
              <a:ext uri="{FF2B5EF4-FFF2-40B4-BE49-F238E27FC236}">
                <a16:creationId xmlns:a16="http://schemas.microsoft.com/office/drawing/2014/main" id="{7F1A7D2E-96C0-307B-2518-424C5E507B7A}"/>
              </a:ext>
            </a:extLst>
          </p:cNvPr>
          <p:cNvSpPr txBox="1"/>
          <p:nvPr/>
        </p:nvSpPr>
        <p:spPr>
          <a:xfrm>
            <a:off x="7546782" y="2409872"/>
            <a:ext cx="4503174" cy="1477328"/>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Finance and IT departments have the highest number of employees (9 each)</a:t>
            </a:r>
            <a:r>
              <a:rPr lang="en-US" sz="1800" dirty="0">
                <a:latin typeface="Times New Roman" panose="02020603050405020304" pitchFamily="18" charset="0"/>
                <a:cs typeface="Times New Roman" panose="02020603050405020304" pitchFamily="18" charset="0"/>
              </a:rPr>
              <a:t>, indicating that these departments require the largest workforce to support the organization’s operational and technological functions.</a:t>
            </a:r>
            <a:endParaRPr lang="en-IN" sz="1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204BF68-23E9-924F-1521-403E626ACD92}"/>
              </a:ext>
            </a:extLst>
          </p:cNvPr>
          <p:cNvPicPr>
            <a:picLocks noChangeAspect="1"/>
          </p:cNvPicPr>
          <p:nvPr/>
        </p:nvPicPr>
        <p:blipFill>
          <a:blip r:embed="rId3"/>
          <a:stretch>
            <a:fillRect/>
          </a:stretch>
        </p:blipFill>
        <p:spPr>
          <a:xfrm>
            <a:off x="686078" y="1447416"/>
            <a:ext cx="5873291" cy="2259243"/>
          </a:xfrm>
          <a:prstGeom prst="rect">
            <a:avLst/>
          </a:prstGeom>
        </p:spPr>
      </p:pic>
      <p:sp>
        <p:nvSpPr>
          <p:cNvPr id="4" name="TextBox 3">
            <a:extLst>
              <a:ext uri="{FF2B5EF4-FFF2-40B4-BE49-F238E27FC236}">
                <a16:creationId xmlns:a16="http://schemas.microsoft.com/office/drawing/2014/main" id="{35C09547-ED6A-CCB0-63F6-97A05E6D8371}"/>
              </a:ext>
            </a:extLst>
          </p:cNvPr>
          <p:cNvSpPr txBox="1"/>
          <p:nvPr/>
        </p:nvSpPr>
        <p:spPr>
          <a:xfrm>
            <a:off x="767188" y="3913323"/>
            <a:ext cx="1322798"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77B20149-D84F-29D6-E896-FECF92C5B03E}"/>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2395315090"/>
      </p:ext>
    </p:extLst>
  </p:cSld>
  <p:clrMapOvr>
    <a:masterClrMapping/>
  </p:clrMapOvr>
  <p:transition spd="slow">
    <p:comb/>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FF5C703-99EB-0AC6-7316-5C48A5583F9B}"/>
              </a:ext>
            </a:extLst>
          </p:cNvPr>
          <p:cNvSpPr txBox="1"/>
          <p:nvPr/>
        </p:nvSpPr>
        <p:spPr>
          <a:xfrm>
            <a:off x="6576551" y="2114489"/>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a:t>
            </a:r>
            <a:endParaRPr lang="en-IN" sz="24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77DEE049-3F8C-1AC9-50D7-51A66C56B782}"/>
              </a:ext>
            </a:extLst>
          </p:cNvPr>
          <p:cNvSpPr txBox="1"/>
          <p:nvPr/>
        </p:nvSpPr>
        <p:spPr>
          <a:xfrm>
            <a:off x="673539" y="762007"/>
            <a:ext cx="7703574"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1.3 What Is the Average salary Per department ? </a:t>
            </a:r>
            <a:endParaRPr lang="en-IN" sz="24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84AFEBDF-F909-194D-6470-CD6172C77430}"/>
              </a:ext>
            </a:extLst>
          </p:cNvPr>
          <p:cNvSpPr txBox="1"/>
          <p:nvPr/>
        </p:nvSpPr>
        <p:spPr>
          <a:xfrm>
            <a:off x="6576551" y="2608989"/>
            <a:ext cx="5469194" cy="2031325"/>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Legal department has the highest average salary (84.6K)</a:t>
            </a:r>
            <a:r>
              <a:rPr lang="en-US" sz="1800" dirty="0">
                <a:latin typeface="Times New Roman" panose="02020603050405020304" pitchFamily="18" charset="0"/>
                <a:cs typeface="Times New Roman" panose="02020603050405020304" pitchFamily="18" charset="0"/>
              </a:rPr>
              <a:t>, followed by </a:t>
            </a:r>
            <a:r>
              <a:rPr lang="en-US" sz="1800" b="1" dirty="0">
                <a:latin typeface="Times New Roman" panose="02020603050405020304" pitchFamily="18" charset="0"/>
                <a:cs typeface="Times New Roman" panose="02020603050405020304" pitchFamily="18" charset="0"/>
              </a:rPr>
              <a:t>Engineering (81.1K)</a:t>
            </a:r>
            <a:r>
              <a:rPr lang="en-US" sz="1800" dirty="0">
                <a:latin typeface="Times New Roman" panose="02020603050405020304" pitchFamily="18" charset="0"/>
                <a:cs typeface="Times New Roman" panose="02020603050405020304" pitchFamily="18" charset="0"/>
              </a:rPr>
              <a:t>, reflecting the need for specialized expertise in these fields. In contrast, </a:t>
            </a:r>
            <a:r>
              <a:rPr lang="en-US" sz="1800" b="1" dirty="0">
                <a:latin typeface="Times New Roman" panose="02020603050405020304" pitchFamily="18" charset="0"/>
                <a:cs typeface="Times New Roman" panose="02020603050405020304" pitchFamily="18" charset="0"/>
              </a:rPr>
              <a:t>HR and Marketing have lower average salaries</a:t>
            </a:r>
            <a:r>
              <a:rPr lang="en-US" sz="1800" dirty="0">
                <a:latin typeface="Times New Roman" panose="02020603050405020304" pitchFamily="18" charset="0"/>
                <a:cs typeface="Times New Roman" panose="02020603050405020304" pitchFamily="18" charset="0"/>
              </a:rPr>
              <a:t>, suggesting a different compensation structure based on role specialization and operational requirements.</a:t>
            </a:r>
            <a:endParaRPr lang="en-IN"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43F983D-8A48-5B00-118E-E622182ACDA4}"/>
              </a:ext>
            </a:extLst>
          </p:cNvPr>
          <p:cNvPicPr>
            <a:picLocks noChangeAspect="1"/>
          </p:cNvPicPr>
          <p:nvPr/>
        </p:nvPicPr>
        <p:blipFill>
          <a:blip r:embed="rId2"/>
          <a:stretch>
            <a:fillRect/>
          </a:stretch>
        </p:blipFill>
        <p:spPr>
          <a:xfrm>
            <a:off x="673539" y="1546697"/>
            <a:ext cx="5022536" cy="1882303"/>
          </a:xfrm>
          <a:prstGeom prst="rect">
            <a:avLst/>
          </a:prstGeom>
        </p:spPr>
      </p:pic>
      <p:pic>
        <p:nvPicPr>
          <p:cNvPr id="8" name="Picture 7">
            <a:extLst>
              <a:ext uri="{FF2B5EF4-FFF2-40B4-BE49-F238E27FC236}">
                <a16:creationId xmlns:a16="http://schemas.microsoft.com/office/drawing/2014/main" id="{8EA76E68-5649-1700-3B42-0E8101011560}"/>
              </a:ext>
            </a:extLst>
          </p:cNvPr>
          <p:cNvPicPr>
            <a:picLocks noChangeAspect="1"/>
          </p:cNvPicPr>
          <p:nvPr/>
        </p:nvPicPr>
        <p:blipFill>
          <a:blip r:embed="rId3"/>
          <a:stretch>
            <a:fillRect/>
          </a:stretch>
        </p:blipFill>
        <p:spPr>
          <a:xfrm>
            <a:off x="910574" y="3931146"/>
            <a:ext cx="2419887" cy="2343969"/>
          </a:xfrm>
          <a:prstGeom prst="rect">
            <a:avLst/>
          </a:prstGeom>
        </p:spPr>
      </p:pic>
      <p:sp>
        <p:nvSpPr>
          <p:cNvPr id="10" name="TextBox 9">
            <a:extLst>
              <a:ext uri="{FF2B5EF4-FFF2-40B4-BE49-F238E27FC236}">
                <a16:creationId xmlns:a16="http://schemas.microsoft.com/office/drawing/2014/main" id="{BC20EE94-7471-625F-DD5D-68E3C32FBE93}"/>
              </a:ext>
            </a:extLst>
          </p:cNvPr>
          <p:cNvSpPr txBox="1"/>
          <p:nvPr/>
        </p:nvSpPr>
        <p:spPr>
          <a:xfrm>
            <a:off x="792586" y="3436374"/>
            <a:ext cx="1322798"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CE4442DD-5F6A-E954-1FC2-494DCBD30D29}"/>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326197344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EA4B26D-6891-A147-828D-3C2513AD8459}"/>
              </a:ext>
            </a:extLst>
          </p:cNvPr>
          <p:cNvSpPr txBox="1"/>
          <p:nvPr/>
        </p:nvSpPr>
        <p:spPr>
          <a:xfrm>
            <a:off x="648929" y="550832"/>
            <a:ext cx="6558116"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1.4 Who are the top 5 highest-paid employees?</a:t>
            </a:r>
            <a:endParaRPr lang="en-IN" sz="24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E5E8FCD-1914-DE19-EC37-0882A2C1A48F}"/>
              </a:ext>
            </a:extLst>
          </p:cNvPr>
          <p:cNvPicPr>
            <a:picLocks noChangeAspect="1"/>
          </p:cNvPicPr>
          <p:nvPr/>
        </p:nvPicPr>
        <p:blipFill>
          <a:blip r:embed="rId2"/>
          <a:stretch>
            <a:fillRect/>
          </a:stretch>
        </p:blipFill>
        <p:spPr>
          <a:xfrm>
            <a:off x="365943" y="1393637"/>
            <a:ext cx="4933644" cy="1627037"/>
          </a:xfrm>
          <a:prstGeom prst="rect">
            <a:avLst/>
          </a:prstGeom>
        </p:spPr>
      </p:pic>
      <p:pic>
        <p:nvPicPr>
          <p:cNvPr id="7" name="Picture 6">
            <a:extLst>
              <a:ext uri="{FF2B5EF4-FFF2-40B4-BE49-F238E27FC236}">
                <a16:creationId xmlns:a16="http://schemas.microsoft.com/office/drawing/2014/main" id="{EC3C8623-4358-DA01-310C-84A042CCC149}"/>
              </a:ext>
            </a:extLst>
          </p:cNvPr>
          <p:cNvPicPr>
            <a:picLocks noChangeAspect="1"/>
          </p:cNvPicPr>
          <p:nvPr/>
        </p:nvPicPr>
        <p:blipFill>
          <a:blip r:embed="rId3"/>
          <a:stretch>
            <a:fillRect/>
          </a:stretch>
        </p:blipFill>
        <p:spPr>
          <a:xfrm>
            <a:off x="648929" y="3877090"/>
            <a:ext cx="3039737" cy="2120650"/>
          </a:xfrm>
          <a:prstGeom prst="rect">
            <a:avLst/>
          </a:prstGeom>
        </p:spPr>
      </p:pic>
      <p:sp>
        <p:nvSpPr>
          <p:cNvPr id="9" name="TextBox 8">
            <a:extLst>
              <a:ext uri="{FF2B5EF4-FFF2-40B4-BE49-F238E27FC236}">
                <a16:creationId xmlns:a16="http://schemas.microsoft.com/office/drawing/2014/main" id="{7202E02E-145F-C5E6-E97E-5B2177B3BC8F}"/>
              </a:ext>
            </a:extLst>
          </p:cNvPr>
          <p:cNvSpPr txBox="1"/>
          <p:nvPr/>
        </p:nvSpPr>
        <p:spPr>
          <a:xfrm>
            <a:off x="6666270" y="1880595"/>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 </a:t>
            </a:r>
            <a:endParaRPr lang="en-IN" sz="24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AFE9C52F-AF05-84EA-B3E7-A9351FEA1702}"/>
              </a:ext>
            </a:extLst>
          </p:cNvPr>
          <p:cNvSpPr txBox="1"/>
          <p:nvPr/>
        </p:nvSpPr>
        <p:spPr>
          <a:xfrm>
            <a:off x="6582697" y="2352092"/>
            <a:ext cx="5476568" cy="1477328"/>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The top five highest-paid employees earn between </a:t>
            </a:r>
            <a:r>
              <a:rPr lang="en-US" sz="1800" b="1" dirty="0">
                <a:latin typeface="Times New Roman" panose="02020603050405020304" pitchFamily="18" charset="0"/>
                <a:cs typeface="Times New Roman" panose="02020603050405020304" pitchFamily="18" charset="0"/>
              </a:rPr>
              <a:t>140,000 and 170,000</a:t>
            </a:r>
            <a:r>
              <a:rPr lang="en-US" sz="1800" dirty="0">
                <a:latin typeface="Times New Roman" panose="02020603050405020304" pitchFamily="18" charset="0"/>
                <a:cs typeface="Times New Roman" panose="02020603050405020304" pitchFamily="18" charset="0"/>
              </a:rPr>
              <a:t>, with </a:t>
            </a:r>
            <a:r>
              <a:rPr lang="en-US" sz="1800" b="1" dirty="0">
                <a:latin typeface="Times New Roman" panose="02020603050405020304" pitchFamily="18" charset="0"/>
                <a:cs typeface="Times New Roman" panose="02020603050405020304" pitchFamily="18" charset="0"/>
              </a:rPr>
              <a:t>Ingrid Adams receiving the highest salary of 170,000</a:t>
            </a:r>
            <a:r>
              <a:rPr lang="en-US" sz="1800" dirty="0">
                <a:latin typeface="Times New Roman" panose="02020603050405020304" pitchFamily="18" charset="0"/>
                <a:cs typeface="Times New Roman" panose="02020603050405020304" pitchFamily="18" charset="0"/>
              </a:rPr>
              <a:t>. This indicates that senior or specialized roles in the organization command significantly higher compensation.</a:t>
            </a:r>
            <a:endParaRPr lang="en-IN" sz="18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F8DE6B31-D81D-9FDF-A2DE-C1AB69126252}"/>
              </a:ext>
            </a:extLst>
          </p:cNvPr>
          <p:cNvSpPr txBox="1"/>
          <p:nvPr/>
        </p:nvSpPr>
        <p:spPr>
          <a:xfrm>
            <a:off x="648929" y="3261849"/>
            <a:ext cx="146500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7057643-995A-592C-05E8-C91376522968}"/>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356306010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A953BD8-D080-1A56-F4AF-F18926438591}"/>
              </a:ext>
            </a:extLst>
          </p:cNvPr>
          <p:cNvSpPr txBox="1"/>
          <p:nvPr/>
        </p:nvSpPr>
        <p:spPr>
          <a:xfrm>
            <a:off x="736815" y="673732"/>
            <a:ext cx="8686800"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1.5 What is the total salary expenditure across the company?</a:t>
            </a:r>
          </a:p>
        </p:txBody>
      </p:sp>
      <p:sp>
        <p:nvSpPr>
          <p:cNvPr id="9" name="TextBox 8">
            <a:extLst>
              <a:ext uri="{FF2B5EF4-FFF2-40B4-BE49-F238E27FC236}">
                <a16:creationId xmlns:a16="http://schemas.microsoft.com/office/drawing/2014/main" id="{1C9E03B4-0A5A-3110-DDD7-C2303418A448}"/>
              </a:ext>
            </a:extLst>
          </p:cNvPr>
          <p:cNvSpPr txBox="1"/>
          <p:nvPr/>
        </p:nvSpPr>
        <p:spPr>
          <a:xfrm>
            <a:off x="6951406" y="2477392"/>
            <a:ext cx="4686181" cy="2554545"/>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The company’s total salary expenditure is approximately </a:t>
            </a:r>
            <a:r>
              <a:rPr lang="en-US" sz="2000" b="1" dirty="0">
                <a:latin typeface="Times New Roman" panose="02020603050405020304" pitchFamily="18" charset="0"/>
                <a:cs typeface="Times New Roman" panose="02020603050405020304" pitchFamily="18" charset="0"/>
              </a:rPr>
              <a:t>4.32 million</a:t>
            </a:r>
            <a:r>
              <a:rPr lang="en-US" sz="2000" dirty="0">
                <a:latin typeface="Times New Roman" panose="02020603050405020304" pitchFamily="18" charset="0"/>
                <a:cs typeface="Times New Roman" panose="02020603050405020304" pitchFamily="18" charset="0"/>
              </a:rPr>
              <a:t>, indicating a significant investment in employee compensation. With 60 employees in the system, the estimated </a:t>
            </a:r>
            <a:r>
              <a:rPr lang="en-US" sz="2000" b="1" dirty="0">
                <a:latin typeface="Times New Roman" panose="02020603050405020304" pitchFamily="18" charset="0"/>
                <a:cs typeface="Times New Roman" panose="02020603050405020304" pitchFamily="18" charset="0"/>
              </a:rPr>
              <a:t>average salary per employee is around 72K</a:t>
            </a:r>
            <a:r>
              <a:rPr lang="en-US" sz="2000" dirty="0">
                <a:latin typeface="Times New Roman" panose="02020603050405020304" pitchFamily="18" charset="0"/>
                <a:cs typeface="Times New Roman" panose="02020603050405020304" pitchFamily="18" charset="0"/>
              </a:rPr>
              <a:t>, reflecting the organization’s compensation structure across departments.</a:t>
            </a:r>
            <a:endParaRPr lang="en-IN" sz="20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AE96CC1-A29F-3E43-9BF4-3B54DB01197B}"/>
              </a:ext>
            </a:extLst>
          </p:cNvPr>
          <p:cNvPicPr>
            <a:picLocks noChangeAspect="1"/>
          </p:cNvPicPr>
          <p:nvPr/>
        </p:nvPicPr>
        <p:blipFill>
          <a:blip r:embed="rId2"/>
          <a:stretch>
            <a:fillRect/>
          </a:stretch>
        </p:blipFill>
        <p:spPr>
          <a:xfrm>
            <a:off x="736815" y="1509057"/>
            <a:ext cx="5193344" cy="1174380"/>
          </a:xfrm>
          <a:prstGeom prst="rect">
            <a:avLst/>
          </a:prstGeom>
        </p:spPr>
      </p:pic>
      <p:pic>
        <p:nvPicPr>
          <p:cNvPr id="8" name="Picture 7">
            <a:extLst>
              <a:ext uri="{FF2B5EF4-FFF2-40B4-BE49-F238E27FC236}">
                <a16:creationId xmlns:a16="http://schemas.microsoft.com/office/drawing/2014/main" id="{06046EE1-B299-202D-B141-DBE22B6A46C2}"/>
              </a:ext>
            </a:extLst>
          </p:cNvPr>
          <p:cNvPicPr>
            <a:picLocks noChangeAspect="1"/>
          </p:cNvPicPr>
          <p:nvPr/>
        </p:nvPicPr>
        <p:blipFill>
          <a:blip r:embed="rId3"/>
          <a:stretch>
            <a:fillRect/>
          </a:stretch>
        </p:blipFill>
        <p:spPr>
          <a:xfrm>
            <a:off x="736815" y="3944640"/>
            <a:ext cx="3190979" cy="1087297"/>
          </a:xfrm>
          <a:prstGeom prst="rect">
            <a:avLst/>
          </a:prstGeom>
        </p:spPr>
      </p:pic>
      <p:sp>
        <p:nvSpPr>
          <p:cNvPr id="10" name="TextBox 9">
            <a:extLst>
              <a:ext uri="{FF2B5EF4-FFF2-40B4-BE49-F238E27FC236}">
                <a16:creationId xmlns:a16="http://schemas.microsoft.com/office/drawing/2014/main" id="{D7F42625-C307-72A0-3F02-3A153F3E93C4}"/>
              </a:ext>
            </a:extLst>
          </p:cNvPr>
          <p:cNvSpPr txBox="1"/>
          <p:nvPr/>
        </p:nvSpPr>
        <p:spPr>
          <a:xfrm>
            <a:off x="6951406" y="1905513"/>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 </a:t>
            </a:r>
            <a:endParaRPr lang="en-IN" sz="24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4D788031-36FC-78E8-B02D-DA7C338D5E4E}"/>
              </a:ext>
            </a:extLst>
          </p:cNvPr>
          <p:cNvSpPr txBox="1"/>
          <p:nvPr/>
        </p:nvSpPr>
        <p:spPr>
          <a:xfrm>
            <a:off x="736815" y="3354554"/>
            <a:ext cx="146500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22CA31B0-4E82-04DC-25C3-9E6BC25EE858}"/>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15744116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7E0DC52-B845-FB9D-FFB1-B637A7D81741}"/>
              </a:ext>
            </a:extLst>
          </p:cNvPr>
          <p:cNvSpPr txBox="1"/>
          <p:nvPr/>
        </p:nvSpPr>
        <p:spPr>
          <a:xfrm>
            <a:off x="2507225" y="241613"/>
            <a:ext cx="7806813" cy="523220"/>
          </a:xfrm>
          <a:prstGeom prst="rect">
            <a:avLst/>
          </a:prstGeom>
          <a:noFill/>
        </p:spPr>
        <p:txBody>
          <a:bodyPr wrap="square">
            <a:spAutoFit/>
          </a:bodyPr>
          <a:lstStyle/>
          <a:p>
            <a:r>
              <a:rPr lang="en-US" sz="2800" b="1" i="0" u="none" strike="noStrike" dirty="0">
                <a:solidFill>
                  <a:srgbClr val="FF0000"/>
                </a:solidFill>
                <a:effectLst/>
                <a:latin typeface="Times New Roman" panose="02020603050405020304" pitchFamily="18" charset="0"/>
                <a:cs typeface="Times New Roman" panose="02020603050405020304" pitchFamily="18" charset="0"/>
              </a:rPr>
              <a:t>2. JOB ROLE AND DEPARTMENT ANALYSIS</a:t>
            </a:r>
            <a:endParaRPr lang="en-IN" sz="2800" dirty="0">
              <a:solidFill>
                <a:srgbClr val="FF0000"/>
              </a:solidFill>
            </a:endParaRPr>
          </a:p>
        </p:txBody>
      </p:sp>
      <p:sp>
        <p:nvSpPr>
          <p:cNvPr id="5" name="TextBox 4">
            <a:extLst>
              <a:ext uri="{FF2B5EF4-FFF2-40B4-BE49-F238E27FC236}">
                <a16:creationId xmlns:a16="http://schemas.microsoft.com/office/drawing/2014/main" id="{15C8D378-5EAC-4C92-731F-D0D4141ACDC0}"/>
              </a:ext>
            </a:extLst>
          </p:cNvPr>
          <p:cNvSpPr txBox="1"/>
          <p:nvPr/>
        </p:nvSpPr>
        <p:spPr>
          <a:xfrm>
            <a:off x="732055" y="1082817"/>
            <a:ext cx="7989158"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2.1 How many different job roles exist in each department?</a:t>
            </a:r>
          </a:p>
        </p:txBody>
      </p:sp>
      <p:sp>
        <p:nvSpPr>
          <p:cNvPr id="11" name="TextBox 10">
            <a:extLst>
              <a:ext uri="{FF2B5EF4-FFF2-40B4-BE49-F238E27FC236}">
                <a16:creationId xmlns:a16="http://schemas.microsoft.com/office/drawing/2014/main" id="{D800A0B1-5AFB-3510-0C59-989EDE49DF10}"/>
              </a:ext>
            </a:extLst>
          </p:cNvPr>
          <p:cNvSpPr txBox="1"/>
          <p:nvPr/>
        </p:nvSpPr>
        <p:spPr>
          <a:xfrm>
            <a:off x="7148053" y="2361349"/>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a:t>
            </a:r>
            <a:endParaRPr lang="en-IN" sz="240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42B9FBB0-1B49-5A54-FEF9-46B05F4722F3}"/>
              </a:ext>
            </a:extLst>
          </p:cNvPr>
          <p:cNvSpPr txBox="1"/>
          <p:nvPr/>
        </p:nvSpPr>
        <p:spPr>
          <a:xfrm>
            <a:off x="7148053" y="2911272"/>
            <a:ext cx="4444180" cy="1754326"/>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Finance and IT departments have the highest role diversity with 9 job roles each</a:t>
            </a:r>
            <a:r>
              <a:rPr lang="en-US" sz="1800" dirty="0">
                <a:latin typeface="Times New Roman" panose="02020603050405020304" pitchFamily="18" charset="0"/>
                <a:cs typeface="Times New Roman" panose="02020603050405020304" pitchFamily="18" charset="0"/>
              </a:rPr>
              <a:t>, indicating complex functional structures. In contrast, the </a:t>
            </a:r>
            <a:r>
              <a:rPr lang="en-US" sz="1800" b="1" dirty="0">
                <a:latin typeface="Times New Roman" panose="02020603050405020304" pitchFamily="18" charset="0"/>
                <a:cs typeface="Times New Roman" panose="02020603050405020304" pitchFamily="18" charset="0"/>
              </a:rPr>
              <a:t>Legal department has only 5 roles</a:t>
            </a:r>
            <a:r>
              <a:rPr lang="en-US" sz="1800" dirty="0">
                <a:latin typeface="Times New Roman" panose="02020603050405020304" pitchFamily="18" charset="0"/>
                <a:cs typeface="Times New Roman" panose="02020603050405020304" pitchFamily="18" charset="0"/>
              </a:rPr>
              <a:t>, reflecting a more specialized and streamlined team.</a:t>
            </a:r>
            <a:endParaRPr lang="en-IN"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C9B17CC-BF0A-74AD-3AA6-68FA9BBB22CA}"/>
              </a:ext>
            </a:extLst>
          </p:cNvPr>
          <p:cNvPicPr>
            <a:picLocks noChangeAspect="1"/>
          </p:cNvPicPr>
          <p:nvPr/>
        </p:nvPicPr>
        <p:blipFill>
          <a:blip r:embed="rId2"/>
          <a:stretch>
            <a:fillRect/>
          </a:stretch>
        </p:blipFill>
        <p:spPr>
          <a:xfrm>
            <a:off x="776748" y="1804629"/>
            <a:ext cx="5018105" cy="1289054"/>
          </a:xfrm>
          <a:prstGeom prst="rect">
            <a:avLst/>
          </a:prstGeom>
        </p:spPr>
      </p:pic>
      <p:pic>
        <p:nvPicPr>
          <p:cNvPr id="8" name="Picture 7">
            <a:extLst>
              <a:ext uri="{FF2B5EF4-FFF2-40B4-BE49-F238E27FC236}">
                <a16:creationId xmlns:a16="http://schemas.microsoft.com/office/drawing/2014/main" id="{67046E81-0336-1F05-2507-549AA2A871FE}"/>
              </a:ext>
            </a:extLst>
          </p:cNvPr>
          <p:cNvPicPr>
            <a:picLocks noChangeAspect="1"/>
          </p:cNvPicPr>
          <p:nvPr/>
        </p:nvPicPr>
        <p:blipFill>
          <a:blip r:embed="rId3"/>
          <a:stretch>
            <a:fillRect/>
          </a:stretch>
        </p:blipFill>
        <p:spPr>
          <a:xfrm>
            <a:off x="865238" y="3890665"/>
            <a:ext cx="2339551" cy="2166251"/>
          </a:xfrm>
          <a:prstGeom prst="rect">
            <a:avLst/>
          </a:prstGeom>
        </p:spPr>
      </p:pic>
      <p:sp>
        <p:nvSpPr>
          <p:cNvPr id="10" name="TextBox 9">
            <a:extLst>
              <a:ext uri="{FF2B5EF4-FFF2-40B4-BE49-F238E27FC236}">
                <a16:creationId xmlns:a16="http://schemas.microsoft.com/office/drawing/2014/main" id="{44C929A5-9D8A-40C5-2455-51764476831F}"/>
              </a:ext>
            </a:extLst>
          </p:cNvPr>
          <p:cNvSpPr txBox="1"/>
          <p:nvPr/>
        </p:nvSpPr>
        <p:spPr>
          <a:xfrm>
            <a:off x="776748" y="3429000"/>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3342E5DE-E767-F6E8-9763-38604192DAD5}"/>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910834068"/>
      </p:ext>
    </p:extLst>
  </p:cSld>
  <p:clrMapOvr>
    <a:masterClrMapping/>
  </p:clrMapOvr>
  <p:transition spd="slow">
    <p:wheel spokes="1"/>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EBD3F70-46D2-E713-5DCE-A9FA3B0346E1}"/>
              </a:ext>
            </a:extLst>
          </p:cNvPr>
          <p:cNvSpPr txBox="1"/>
          <p:nvPr/>
        </p:nvSpPr>
        <p:spPr>
          <a:xfrm>
            <a:off x="707922" y="662012"/>
            <a:ext cx="6961239"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2.2 What is the average salary per department?</a:t>
            </a:r>
          </a:p>
        </p:txBody>
      </p:sp>
      <p:sp>
        <p:nvSpPr>
          <p:cNvPr id="9" name="TextBox 8">
            <a:extLst>
              <a:ext uri="{FF2B5EF4-FFF2-40B4-BE49-F238E27FC236}">
                <a16:creationId xmlns:a16="http://schemas.microsoft.com/office/drawing/2014/main" id="{EABC6C89-DAC7-0C63-4E7A-3718DDBE81E5}"/>
              </a:ext>
            </a:extLst>
          </p:cNvPr>
          <p:cNvSpPr txBox="1"/>
          <p:nvPr/>
        </p:nvSpPr>
        <p:spPr>
          <a:xfrm>
            <a:off x="7231626" y="2107885"/>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 </a:t>
            </a:r>
            <a:endParaRPr lang="en-IN" sz="24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1A781803-4982-784D-7195-5E9C052469A1}"/>
              </a:ext>
            </a:extLst>
          </p:cNvPr>
          <p:cNvSpPr txBox="1"/>
          <p:nvPr/>
        </p:nvSpPr>
        <p:spPr>
          <a:xfrm>
            <a:off x="7231626" y="2569550"/>
            <a:ext cx="4645741" cy="2031325"/>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Legal and Engineering departments have the highest average salaries</a:t>
            </a:r>
            <a:r>
              <a:rPr lang="en-US" sz="1800" dirty="0">
                <a:latin typeface="Times New Roman" panose="02020603050405020304" pitchFamily="18" charset="0"/>
                <a:cs typeface="Times New Roman" panose="02020603050405020304" pitchFamily="18" charset="0"/>
              </a:rPr>
              <a:t>, reflecting the need for specialized expertise. In contrast, </a:t>
            </a:r>
            <a:r>
              <a:rPr lang="en-US" sz="1800" b="1" dirty="0">
                <a:latin typeface="Times New Roman" panose="02020603050405020304" pitchFamily="18" charset="0"/>
                <a:cs typeface="Times New Roman" panose="02020603050405020304" pitchFamily="18" charset="0"/>
              </a:rPr>
              <a:t>HR and Marketing have lower average salaries</a:t>
            </a:r>
            <a:r>
              <a:rPr lang="en-US" sz="1800" dirty="0">
                <a:latin typeface="Times New Roman" panose="02020603050405020304" pitchFamily="18" charset="0"/>
                <a:cs typeface="Times New Roman" panose="02020603050405020304" pitchFamily="18" charset="0"/>
              </a:rPr>
              <a:t>, indicating different compensation structures based on role specialization and operational responsibilities.</a:t>
            </a:r>
            <a:endParaRPr lang="en-IN"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26C9A2E-C47F-44EE-33C5-81246D2F53AF}"/>
              </a:ext>
            </a:extLst>
          </p:cNvPr>
          <p:cNvPicPr>
            <a:picLocks noChangeAspect="1"/>
          </p:cNvPicPr>
          <p:nvPr/>
        </p:nvPicPr>
        <p:blipFill>
          <a:blip r:embed="rId2"/>
          <a:stretch>
            <a:fillRect/>
          </a:stretch>
        </p:blipFill>
        <p:spPr>
          <a:xfrm>
            <a:off x="630172" y="1136487"/>
            <a:ext cx="5936870" cy="1942796"/>
          </a:xfrm>
          <a:prstGeom prst="rect">
            <a:avLst/>
          </a:prstGeom>
        </p:spPr>
      </p:pic>
      <p:pic>
        <p:nvPicPr>
          <p:cNvPr id="8" name="Picture 7">
            <a:extLst>
              <a:ext uri="{FF2B5EF4-FFF2-40B4-BE49-F238E27FC236}">
                <a16:creationId xmlns:a16="http://schemas.microsoft.com/office/drawing/2014/main" id="{92BB6C6F-99A3-3F1C-35BF-7C5AED57662B}"/>
              </a:ext>
            </a:extLst>
          </p:cNvPr>
          <p:cNvPicPr>
            <a:picLocks noChangeAspect="1"/>
          </p:cNvPicPr>
          <p:nvPr/>
        </p:nvPicPr>
        <p:blipFill>
          <a:blip r:embed="rId3"/>
          <a:stretch>
            <a:fillRect/>
          </a:stretch>
        </p:blipFill>
        <p:spPr>
          <a:xfrm>
            <a:off x="733306" y="3810216"/>
            <a:ext cx="2562497" cy="2385772"/>
          </a:xfrm>
          <a:prstGeom prst="rect">
            <a:avLst/>
          </a:prstGeom>
        </p:spPr>
      </p:pic>
      <p:sp>
        <p:nvSpPr>
          <p:cNvPr id="10" name="TextBox 9">
            <a:extLst>
              <a:ext uri="{FF2B5EF4-FFF2-40B4-BE49-F238E27FC236}">
                <a16:creationId xmlns:a16="http://schemas.microsoft.com/office/drawing/2014/main" id="{D10F605B-FFB1-CEA8-86E9-6ABEA1BBA43B}"/>
              </a:ext>
            </a:extLst>
          </p:cNvPr>
          <p:cNvSpPr txBox="1"/>
          <p:nvPr/>
        </p:nvSpPr>
        <p:spPr>
          <a:xfrm>
            <a:off x="733306" y="3317053"/>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AF91D0F1-C379-BB6E-1BF8-0F31C12C3A74}"/>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1097299212"/>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E7B3DE1-F140-5A4B-5E55-4D4FBDCA8559}"/>
              </a:ext>
            </a:extLst>
          </p:cNvPr>
          <p:cNvSpPr txBox="1"/>
          <p:nvPr/>
        </p:nvSpPr>
        <p:spPr>
          <a:xfrm>
            <a:off x="668592" y="591358"/>
            <a:ext cx="6096000"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2.3 Which Job roles offer the highest salary</a:t>
            </a:r>
          </a:p>
        </p:txBody>
      </p:sp>
      <p:pic>
        <p:nvPicPr>
          <p:cNvPr id="5" name="Picture 4">
            <a:extLst>
              <a:ext uri="{FF2B5EF4-FFF2-40B4-BE49-F238E27FC236}">
                <a16:creationId xmlns:a16="http://schemas.microsoft.com/office/drawing/2014/main" id="{FD276BA4-E6F6-DF25-A925-1DF9D0AE8EBF}"/>
              </a:ext>
            </a:extLst>
          </p:cNvPr>
          <p:cNvPicPr>
            <a:picLocks noChangeAspect="1"/>
          </p:cNvPicPr>
          <p:nvPr/>
        </p:nvPicPr>
        <p:blipFill>
          <a:blip r:embed="rId2"/>
          <a:stretch>
            <a:fillRect/>
          </a:stretch>
        </p:blipFill>
        <p:spPr>
          <a:xfrm>
            <a:off x="580369" y="1172084"/>
            <a:ext cx="4261735" cy="1984422"/>
          </a:xfrm>
          <a:prstGeom prst="rect">
            <a:avLst/>
          </a:prstGeom>
        </p:spPr>
      </p:pic>
      <p:sp>
        <p:nvSpPr>
          <p:cNvPr id="11" name="TextBox 10">
            <a:extLst>
              <a:ext uri="{FF2B5EF4-FFF2-40B4-BE49-F238E27FC236}">
                <a16:creationId xmlns:a16="http://schemas.microsoft.com/office/drawing/2014/main" id="{2A06E007-34EA-D60B-BD11-4F29BA3324BA}"/>
              </a:ext>
            </a:extLst>
          </p:cNvPr>
          <p:cNvSpPr txBox="1"/>
          <p:nvPr/>
        </p:nvSpPr>
        <p:spPr>
          <a:xfrm>
            <a:off x="7349898" y="1812564"/>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a:t>
            </a:r>
            <a:endParaRPr lang="en-IN" sz="240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CB468479-2A98-E688-6B67-45ADCFE43C09}"/>
              </a:ext>
            </a:extLst>
          </p:cNvPr>
          <p:cNvSpPr txBox="1"/>
          <p:nvPr/>
        </p:nvSpPr>
        <p:spPr>
          <a:xfrm>
            <a:off x="7349898" y="2362666"/>
            <a:ext cx="4699819" cy="1754326"/>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Finance Director role offers the highest salary (170,000)</a:t>
            </a:r>
            <a:r>
              <a:rPr lang="en-US" sz="1800" dirty="0">
                <a:latin typeface="Times New Roman" panose="02020603050405020304" pitchFamily="18" charset="0"/>
                <a:cs typeface="Times New Roman" panose="02020603050405020304" pitchFamily="18" charset="0"/>
              </a:rPr>
              <a:t>, followed by other director-level positions such as Engineering and Marketing Directors. This indicates that leadership and strategic roles receive the highest compensation within the organization.</a:t>
            </a:r>
            <a:endParaRPr lang="en-IN"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7C17F94-B662-C9AC-F8CF-4D29821C6E95}"/>
              </a:ext>
            </a:extLst>
          </p:cNvPr>
          <p:cNvPicPr>
            <a:picLocks noChangeAspect="1"/>
          </p:cNvPicPr>
          <p:nvPr/>
        </p:nvPicPr>
        <p:blipFill>
          <a:blip r:embed="rId3"/>
          <a:stretch>
            <a:fillRect/>
          </a:stretch>
        </p:blipFill>
        <p:spPr>
          <a:xfrm>
            <a:off x="776829" y="3701494"/>
            <a:ext cx="3038273" cy="2442424"/>
          </a:xfrm>
          <a:prstGeom prst="rect">
            <a:avLst/>
          </a:prstGeom>
        </p:spPr>
      </p:pic>
      <p:sp>
        <p:nvSpPr>
          <p:cNvPr id="6" name="TextBox 5">
            <a:extLst>
              <a:ext uri="{FF2B5EF4-FFF2-40B4-BE49-F238E27FC236}">
                <a16:creationId xmlns:a16="http://schemas.microsoft.com/office/drawing/2014/main" id="{DEACF1AF-9079-04D7-854D-10E5C22F9544}"/>
              </a:ext>
            </a:extLst>
          </p:cNvPr>
          <p:cNvSpPr txBox="1"/>
          <p:nvPr/>
        </p:nvSpPr>
        <p:spPr>
          <a:xfrm>
            <a:off x="668592" y="3239829"/>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02F1B6FC-075E-19CD-02A0-FF30D3BABC5D}"/>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1359831024"/>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44B5390C-7A2A-ECB8-D3DF-B3A4A38C7F34}"/>
              </a:ext>
            </a:extLst>
          </p:cNvPr>
          <p:cNvSpPr txBox="1"/>
          <p:nvPr/>
        </p:nvSpPr>
        <p:spPr>
          <a:xfrm>
            <a:off x="707922" y="787656"/>
            <a:ext cx="9055510" cy="461665"/>
          </a:xfrm>
          <a:prstGeom prst="rect">
            <a:avLst/>
          </a:prstGeom>
          <a:noFill/>
        </p:spPr>
        <p:txBody>
          <a:bodyPr wrap="square">
            <a:spAutoFit/>
          </a:bodyPr>
          <a:lstStyle/>
          <a:p>
            <a:pPr rtl="0" fontAlgn="base">
              <a:spcAft>
                <a:spcPts val="1200"/>
              </a:spcAft>
            </a:pPr>
            <a:r>
              <a:rPr lang="en-US" sz="2400" b="1" i="0" u="none" strike="noStrike" dirty="0">
                <a:solidFill>
                  <a:srgbClr val="000000"/>
                </a:solidFill>
                <a:effectLst/>
                <a:latin typeface="Times New Roman" panose="02020603050405020304" pitchFamily="18" charset="0"/>
                <a:cs typeface="Times New Roman" panose="02020603050405020304" pitchFamily="18" charset="0"/>
              </a:rPr>
              <a:t>2.4 Which departments have the highest total salary allocation?</a:t>
            </a:r>
          </a:p>
        </p:txBody>
      </p:sp>
      <p:pic>
        <p:nvPicPr>
          <p:cNvPr id="17" name="Picture 16">
            <a:extLst>
              <a:ext uri="{FF2B5EF4-FFF2-40B4-BE49-F238E27FC236}">
                <a16:creationId xmlns:a16="http://schemas.microsoft.com/office/drawing/2014/main" id="{A3C2CE70-A271-B68E-1475-C6180D262890}"/>
              </a:ext>
            </a:extLst>
          </p:cNvPr>
          <p:cNvPicPr>
            <a:picLocks noChangeAspect="1"/>
          </p:cNvPicPr>
          <p:nvPr/>
        </p:nvPicPr>
        <p:blipFill>
          <a:blip r:embed="rId2"/>
          <a:stretch>
            <a:fillRect/>
          </a:stretch>
        </p:blipFill>
        <p:spPr>
          <a:xfrm>
            <a:off x="836517" y="4849675"/>
            <a:ext cx="2872810" cy="1049680"/>
          </a:xfrm>
          <a:prstGeom prst="rect">
            <a:avLst/>
          </a:prstGeom>
        </p:spPr>
      </p:pic>
      <p:sp>
        <p:nvSpPr>
          <p:cNvPr id="19" name="TextBox 18">
            <a:extLst>
              <a:ext uri="{FF2B5EF4-FFF2-40B4-BE49-F238E27FC236}">
                <a16:creationId xmlns:a16="http://schemas.microsoft.com/office/drawing/2014/main" id="{34D0AE97-2546-FEB0-929C-6014E4C59871}"/>
              </a:ext>
            </a:extLst>
          </p:cNvPr>
          <p:cNvSpPr txBox="1"/>
          <p:nvPr/>
        </p:nvSpPr>
        <p:spPr>
          <a:xfrm>
            <a:off x="7089058" y="2142118"/>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a:t>
            </a:r>
            <a:endParaRPr lang="en-IN" sz="2400" b="1" dirty="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306AD7E6-3600-6C8A-DF36-705A47084E44}"/>
              </a:ext>
            </a:extLst>
          </p:cNvPr>
          <p:cNvSpPr txBox="1"/>
          <p:nvPr/>
        </p:nvSpPr>
        <p:spPr>
          <a:xfrm>
            <a:off x="7089058" y="2690336"/>
            <a:ext cx="5102942" cy="1477328"/>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Finance department has the highest total salary allocation (651,000)</a:t>
            </a:r>
            <a:r>
              <a:rPr lang="en-US" sz="1800" dirty="0">
                <a:latin typeface="Times New Roman" panose="02020603050405020304" pitchFamily="18" charset="0"/>
                <a:cs typeface="Times New Roman" panose="02020603050405020304" pitchFamily="18" charset="0"/>
              </a:rPr>
              <a:t>, indicating that the organization invests significantly in financial leadership and expertise to manage budgeting, planning, and strategic financial operations.</a:t>
            </a:r>
            <a:endParaRPr lang="en-IN" sz="1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89CDE06D-E215-3797-D350-929EF1240B91}"/>
              </a:ext>
            </a:extLst>
          </p:cNvPr>
          <p:cNvPicPr>
            <a:picLocks noChangeAspect="1"/>
          </p:cNvPicPr>
          <p:nvPr/>
        </p:nvPicPr>
        <p:blipFill>
          <a:blip r:embed="rId3"/>
          <a:stretch>
            <a:fillRect/>
          </a:stretch>
        </p:blipFill>
        <p:spPr>
          <a:xfrm>
            <a:off x="836517" y="1535923"/>
            <a:ext cx="5751096" cy="2520655"/>
          </a:xfrm>
          <a:prstGeom prst="rect">
            <a:avLst/>
          </a:prstGeom>
        </p:spPr>
      </p:pic>
      <p:sp>
        <p:nvSpPr>
          <p:cNvPr id="4" name="TextBox 3">
            <a:extLst>
              <a:ext uri="{FF2B5EF4-FFF2-40B4-BE49-F238E27FC236}">
                <a16:creationId xmlns:a16="http://schemas.microsoft.com/office/drawing/2014/main" id="{1A9762C9-18D1-DDDA-C371-80E63D1D0F13}"/>
              </a:ext>
            </a:extLst>
          </p:cNvPr>
          <p:cNvSpPr txBox="1"/>
          <p:nvPr/>
        </p:nvSpPr>
        <p:spPr>
          <a:xfrm>
            <a:off x="836517" y="4222294"/>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66D9CA47-7A73-11E9-F076-6D74D0AC76A5}"/>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85182984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ADCBD26-419B-8741-044F-0B4073D36292}"/>
              </a:ext>
            </a:extLst>
          </p:cNvPr>
          <p:cNvSpPr txBox="1"/>
          <p:nvPr/>
        </p:nvSpPr>
        <p:spPr>
          <a:xfrm>
            <a:off x="2399071" y="255638"/>
            <a:ext cx="7678705" cy="523220"/>
          </a:xfrm>
          <a:prstGeom prst="rect">
            <a:avLst/>
          </a:prstGeom>
          <a:noFill/>
        </p:spPr>
        <p:txBody>
          <a:bodyPr wrap="none" rtlCol="0">
            <a:spAutoFit/>
          </a:bodyPr>
          <a:lstStyle/>
          <a:p>
            <a:r>
              <a:rPr lang="en-US" sz="2800" b="1" dirty="0">
                <a:solidFill>
                  <a:srgbClr val="FF0000"/>
                </a:solidFill>
                <a:latin typeface="Times New Roman" panose="02020603050405020304" pitchFamily="18" charset="0"/>
                <a:cs typeface="Times New Roman" panose="02020603050405020304" pitchFamily="18" charset="0"/>
              </a:rPr>
              <a:t>3. QUALIFICATION AND SKILLS ANALYSIS</a:t>
            </a:r>
          </a:p>
        </p:txBody>
      </p:sp>
      <p:sp>
        <p:nvSpPr>
          <p:cNvPr id="3" name="TextBox 2">
            <a:extLst>
              <a:ext uri="{FF2B5EF4-FFF2-40B4-BE49-F238E27FC236}">
                <a16:creationId xmlns:a16="http://schemas.microsoft.com/office/drawing/2014/main" id="{540770B4-BF15-0275-20DF-451DE66F1393}"/>
              </a:ext>
            </a:extLst>
          </p:cNvPr>
          <p:cNvSpPr txBox="1"/>
          <p:nvPr/>
        </p:nvSpPr>
        <p:spPr>
          <a:xfrm>
            <a:off x="865238" y="1012722"/>
            <a:ext cx="8406468"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3.1 How many employees have at least one qualification listed?</a:t>
            </a:r>
            <a:endParaRPr lang="en-IN" sz="24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9EFEAAA-9C3F-E34D-AC54-EB7EC7A001D8}"/>
              </a:ext>
            </a:extLst>
          </p:cNvPr>
          <p:cNvPicPr>
            <a:picLocks noChangeAspect="1"/>
          </p:cNvPicPr>
          <p:nvPr/>
        </p:nvPicPr>
        <p:blipFill>
          <a:blip r:embed="rId2"/>
          <a:stretch>
            <a:fillRect/>
          </a:stretch>
        </p:blipFill>
        <p:spPr>
          <a:xfrm>
            <a:off x="865239" y="1844754"/>
            <a:ext cx="5594555" cy="878781"/>
          </a:xfrm>
          <a:prstGeom prst="rect">
            <a:avLst/>
          </a:prstGeom>
        </p:spPr>
      </p:pic>
      <p:pic>
        <p:nvPicPr>
          <p:cNvPr id="7" name="Picture 6">
            <a:extLst>
              <a:ext uri="{FF2B5EF4-FFF2-40B4-BE49-F238E27FC236}">
                <a16:creationId xmlns:a16="http://schemas.microsoft.com/office/drawing/2014/main" id="{2EA3816F-2C0D-F498-36B1-526DEF7C0762}"/>
              </a:ext>
            </a:extLst>
          </p:cNvPr>
          <p:cNvPicPr>
            <a:picLocks noChangeAspect="1"/>
          </p:cNvPicPr>
          <p:nvPr/>
        </p:nvPicPr>
        <p:blipFill>
          <a:blip r:embed="rId3"/>
          <a:stretch>
            <a:fillRect/>
          </a:stretch>
        </p:blipFill>
        <p:spPr>
          <a:xfrm>
            <a:off x="865238" y="3979959"/>
            <a:ext cx="2607579" cy="1142647"/>
          </a:xfrm>
          <a:prstGeom prst="rect">
            <a:avLst/>
          </a:prstGeom>
        </p:spPr>
      </p:pic>
      <p:sp>
        <p:nvSpPr>
          <p:cNvPr id="8" name="TextBox 7">
            <a:extLst>
              <a:ext uri="{FF2B5EF4-FFF2-40B4-BE49-F238E27FC236}">
                <a16:creationId xmlns:a16="http://schemas.microsoft.com/office/drawing/2014/main" id="{A56E57CD-790D-D49D-E233-62B3559291A3}"/>
              </a:ext>
            </a:extLst>
          </p:cNvPr>
          <p:cNvSpPr txBox="1"/>
          <p:nvPr/>
        </p:nvSpPr>
        <p:spPr>
          <a:xfrm>
            <a:off x="865238" y="3429000"/>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586CC2D1-DDAB-4FB8-A58C-527CBDBC26D8}"/>
              </a:ext>
            </a:extLst>
          </p:cNvPr>
          <p:cNvSpPr txBox="1"/>
          <p:nvPr/>
        </p:nvSpPr>
        <p:spPr>
          <a:xfrm>
            <a:off x="7118555" y="2643564"/>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a:t>
            </a:r>
            <a:endParaRPr lang="en-IN" sz="2400"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599A45B6-5EE5-3143-F53D-AE4BCB712D4D}"/>
              </a:ext>
            </a:extLst>
          </p:cNvPr>
          <p:cNvSpPr txBox="1"/>
          <p:nvPr/>
        </p:nvSpPr>
        <p:spPr>
          <a:xfrm>
            <a:off x="7108723" y="3105229"/>
            <a:ext cx="4218039" cy="1754326"/>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All </a:t>
            </a:r>
            <a:r>
              <a:rPr lang="en-US" sz="1800" b="1" dirty="0">
                <a:latin typeface="Times New Roman" panose="02020603050405020304" pitchFamily="18" charset="0"/>
                <a:cs typeface="Times New Roman" panose="02020603050405020304" pitchFamily="18" charset="0"/>
              </a:rPr>
              <a:t>60 employees in the system have at least one qualification recorded</a:t>
            </a:r>
            <a:r>
              <a:rPr lang="en-US" sz="1800" dirty="0">
                <a:latin typeface="Times New Roman" panose="02020603050405020304" pitchFamily="18" charset="0"/>
                <a:cs typeface="Times New Roman" panose="02020603050405020304" pitchFamily="18" charset="0"/>
              </a:rPr>
              <a:t>, indicating a fully qualified workforce and suggesting that the organization prioritizes education and professional credentials during recruitment.</a:t>
            </a:r>
            <a:endParaRPr lang="en-IN"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02F3362-34B1-F9A3-222C-C7A014E7C8B1}"/>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195848572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89B3519-C452-2405-FC2D-2B76BEECF929}"/>
              </a:ext>
            </a:extLst>
          </p:cNvPr>
          <p:cNvSpPr txBox="1"/>
          <p:nvPr/>
        </p:nvSpPr>
        <p:spPr>
          <a:xfrm>
            <a:off x="914399" y="707923"/>
            <a:ext cx="7092006"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3.2  Which positions require the most qualifications?</a:t>
            </a:r>
            <a:endParaRPr lang="en-IN" sz="2400" b="1" dirty="0"/>
          </a:p>
        </p:txBody>
      </p:sp>
      <p:pic>
        <p:nvPicPr>
          <p:cNvPr id="8" name="Picture 7">
            <a:extLst>
              <a:ext uri="{FF2B5EF4-FFF2-40B4-BE49-F238E27FC236}">
                <a16:creationId xmlns:a16="http://schemas.microsoft.com/office/drawing/2014/main" id="{A845EE40-B5C6-7B50-4FE8-496104F79C2D}"/>
              </a:ext>
            </a:extLst>
          </p:cNvPr>
          <p:cNvPicPr>
            <a:picLocks noChangeAspect="1"/>
          </p:cNvPicPr>
          <p:nvPr/>
        </p:nvPicPr>
        <p:blipFill>
          <a:blip r:embed="rId2"/>
          <a:stretch>
            <a:fillRect/>
          </a:stretch>
        </p:blipFill>
        <p:spPr>
          <a:xfrm>
            <a:off x="983224" y="3706887"/>
            <a:ext cx="3510118" cy="2723410"/>
          </a:xfrm>
          <a:prstGeom prst="rect">
            <a:avLst/>
          </a:prstGeom>
        </p:spPr>
      </p:pic>
      <p:pic>
        <p:nvPicPr>
          <p:cNvPr id="10" name="Picture 9">
            <a:extLst>
              <a:ext uri="{FF2B5EF4-FFF2-40B4-BE49-F238E27FC236}">
                <a16:creationId xmlns:a16="http://schemas.microsoft.com/office/drawing/2014/main" id="{2C178DDE-7907-3846-4139-84BAEA87F6AB}"/>
              </a:ext>
            </a:extLst>
          </p:cNvPr>
          <p:cNvPicPr>
            <a:picLocks noChangeAspect="1"/>
          </p:cNvPicPr>
          <p:nvPr/>
        </p:nvPicPr>
        <p:blipFill>
          <a:blip r:embed="rId3"/>
          <a:stretch>
            <a:fillRect/>
          </a:stretch>
        </p:blipFill>
        <p:spPr>
          <a:xfrm>
            <a:off x="914399" y="1400420"/>
            <a:ext cx="5588516" cy="1498291"/>
          </a:xfrm>
          <a:prstGeom prst="rect">
            <a:avLst/>
          </a:prstGeom>
        </p:spPr>
      </p:pic>
      <p:sp>
        <p:nvSpPr>
          <p:cNvPr id="11" name="TextBox 10">
            <a:extLst>
              <a:ext uri="{FF2B5EF4-FFF2-40B4-BE49-F238E27FC236}">
                <a16:creationId xmlns:a16="http://schemas.microsoft.com/office/drawing/2014/main" id="{20545520-AFAA-7C57-94CC-F1BC4164E400}"/>
              </a:ext>
            </a:extLst>
          </p:cNvPr>
          <p:cNvSpPr txBox="1"/>
          <p:nvPr/>
        </p:nvSpPr>
        <p:spPr>
          <a:xfrm>
            <a:off x="806244" y="3129544"/>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77D138AA-C4F2-A895-A405-C05F9AEFAD31}"/>
              </a:ext>
            </a:extLst>
          </p:cNvPr>
          <p:cNvSpPr txBox="1"/>
          <p:nvPr/>
        </p:nvSpPr>
        <p:spPr>
          <a:xfrm>
            <a:off x="7423355" y="2289602"/>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a:t>
            </a:r>
            <a:endParaRPr lang="en-IN" sz="240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D1036575-B46F-86A4-900D-75574F4C5D9A}"/>
              </a:ext>
            </a:extLst>
          </p:cNvPr>
          <p:cNvSpPr txBox="1"/>
          <p:nvPr/>
        </p:nvSpPr>
        <p:spPr>
          <a:xfrm>
            <a:off x="7423355" y="2898711"/>
            <a:ext cx="4041058" cy="1477328"/>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Each job position in the dataset has </a:t>
            </a:r>
            <a:r>
              <a:rPr lang="en-US" sz="1800" b="1" dirty="0">
                <a:latin typeface="Times New Roman" panose="02020603050405020304" pitchFamily="18" charset="0"/>
                <a:cs typeface="Times New Roman" panose="02020603050405020304" pitchFamily="18" charset="0"/>
              </a:rPr>
              <a:t>exactly one qualification requirement</a:t>
            </a:r>
            <a:r>
              <a:rPr lang="en-US" sz="1800" dirty="0">
                <a:latin typeface="Times New Roman" panose="02020603050405020304" pitchFamily="18" charset="0"/>
                <a:cs typeface="Times New Roman" panose="02020603050405020304" pitchFamily="18" charset="0"/>
              </a:rPr>
              <a:t>, indicating a standardized and clearly defined qualification structure for roles within the organization.</a:t>
            </a:r>
            <a:endParaRPr lang="en-IN" sz="1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A248878-69D8-C437-E369-559C3E309400}"/>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368126701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DF49BA8-E1E2-FC92-5D9A-F44D7022427A}"/>
              </a:ext>
            </a:extLst>
          </p:cNvPr>
          <p:cNvSpPr txBox="1"/>
          <p:nvPr/>
        </p:nvSpPr>
        <p:spPr>
          <a:xfrm>
            <a:off x="560438" y="330139"/>
            <a:ext cx="8691716" cy="461665"/>
          </a:xfrm>
          <a:prstGeom prst="rect">
            <a:avLst/>
          </a:prstGeom>
          <a:noFill/>
        </p:spPr>
        <p:txBody>
          <a:bodyPr wrap="square">
            <a:spAutoFit/>
          </a:bodyPr>
          <a:lstStyle/>
          <a:p>
            <a:pPr rtl="0" fontAlgn="base">
              <a:spcAft>
                <a:spcPts val="1200"/>
              </a:spcAft>
            </a:pPr>
            <a:r>
              <a:rPr lang="en-US" sz="2400" b="1" i="0" u="none" strike="noStrike" dirty="0">
                <a:solidFill>
                  <a:srgbClr val="000000"/>
                </a:solidFill>
                <a:effectLst/>
                <a:latin typeface="Times New Roman" panose="02020603050405020304" pitchFamily="18" charset="0"/>
                <a:cs typeface="Times New Roman" panose="02020603050405020304" pitchFamily="18" charset="0"/>
              </a:rPr>
              <a:t>3.3  Which employees have the highest number of qualifications?</a:t>
            </a:r>
          </a:p>
        </p:txBody>
      </p:sp>
      <p:pic>
        <p:nvPicPr>
          <p:cNvPr id="6" name="Picture 5">
            <a:extLst>
              <a:ext uri="{FF2B5EF4-FFF2-40B4-BE49-F238E27FC236}">
                <a16:creationId xmlns:a16="http://schemas.microsoft.com/office/drawing/2014/main" id="{D9B4ADF5-75F3-BC36-04D9-9B6A1056C647}"/>
              </a:ext>
            </a:extLst>
          </p:cNvPr>
          <p:cNvPicPr>
            <a:picLocks noChangeAspect="1"/>
          </p:cNvPicPr>
          <p:nvPr/>
        </p:nvPicPr>
        <p:blipFill>
          <a:blip r:embed="rId2"/>
          <a:stretch>
            <a:fillRect/>
          </a:stretch>
        </p:blipFill>
        <p:spPr>
          <a:xfrm>
            <a:off x="727119" y="791804"/>
            <a:ext cx="6706536" cy="2934109"/>
          </a:xfrm>
          <a:prstGeom prst="rect">
            <a:avLst/>
          </a:prstGeom>
        </p:spPr>
      </p:pic>
      <p:pic>
        <p:nvPicPr>
          <p:cNvPr id="8" name="Picture 7">
            <a:extLst>
              <a:ext uri="{FF2B5EF4-FFF2-40B4-BE49-F238E27FC236}">
                <a16:creationId xmlns:a16="http://schemas.microsoft.com/office/drawing/2014/main" id="{44356697-7D81-9BCC-2A55-0D4F85D81D68}"/>
              </a:ext>
            </a:extLst>
          </p:cNvPr>
          <p:cNvPicPr>
            <a:picLocks noChangeAspect="1"/>
          </p:cNvPicPr>
          <p:nvPr/>
        </p:nvPicPr>
        <p:blipFill>
          <a:blip r:embed="rId3"/>
          <a:stretch>
            <a:fillRect/>
          </a:stretch>
        </p:blipFill>
        <p:spPr>
          <a:xfrm>
            <a:off x="822727" y="4409679"/>
            <a:ext cx="3781953" cy="2236927"/>
          </a:xfrm>
          <a:prstGeom prst="rect">
            <a:avLst/>
          </a:prstGeom>
        </p:spPr>
      </p:pic>
      <p:sp>
        <p:nvSpPr>
          <p:cNvPr id="9" name="TextBox 8">
            <a:extLst>
              <a:ext uri="{FF2B5EF4-FFF2-40B4-BE49-F238E27FC236}">
                <a16:creationId xmlns:a16="http://schemas.microsoft.com/office/drawing/2014/main" id="{BC64D976-E59F-2B8F-4737-337D3C2FAD62}"/>
              </a:ext>
            </a:extLst>
          </p:cNvPr>
          <p:cNvSpPr txBox="1"/>
          <p:nvPr/>
        </p:nvSpPr>
        <p:spPr>
          <a:xfrm>
            <a:off x="727119" y="3836963"/>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BBCC6ED9-0BDC-D32E-6B99-C5EB7160C049}"/>
              </a:ext>
            </a:extLst>
          </p:cNvPr>
          <p:cNvSpPr txBox="1"/>
          <p:nvPr/>
        </p:nvSpPr>
        <p:spPr>
          <a:xfrm>
            <a:off x="7693743" y="2328931"/>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a:t>
            </a:r>
            <a:endParaRPr lang="en-IN" sz="2400" b="1"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8FB40B4-2542-558C-54B7-CC94C096424A}"/>
              </a:ext>
            </a:extLst>
          </p:cNvPr>
          <p:cNvSpPr txBox="1"/>
          <p:nvPr/>
        </p:nvSpPr>
        <p:spPr>
          <a:xfrm>
            <a:off x="7737988" y="2790596"/>
            <a:ext cx="4454012" cy="1200329"/>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All employees have </a:t>
            </a:r>
            <a:r>
              <a:rPr lang="en-US" sz="1800" b="1" dirty="0">
                <a:latin typeface="Times New Roman" panose="02020603050405020304" pitchFamily="18" charset="0"/>
                <a:cs typeface="Times New Roman" panose="02020603050405020304" pitchFamily="18" charset="0"/>
              </a:rPr>
              <a:t>exactly one qualification recorded</a:t>
            </a:r>
            <a:r>
              <a:rPr lang="en-US" sz="1800" dirty="0">
                <a:latin typeface="Times New Roman" panose="02020603050405020304" pitchFamily="18" charset="0"/>
                <a:cs typeface="Times New Roman" panose="02020603050405020304" pitchFamily="18" charset="0"/>
              </a:rPr>
              <a:t>, indicating a standardized qualification structure where each employee is associated with a single primary credential.</a:t>
            </a:r>
            <a:endParaRPr lang="en-IN" sz="18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CFD781EC-C280-1932-6A58-523D65475FB2}"/>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58137516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F1461A1-B04E-47AB-5B0D-5BCEC12B0770}"/>
              </a:ext>
            </a:extLst>
          </p:cNvPr>
          <p:cNvSpPr txBox="1"/>
          <p:nvPr/>
        </p:nvSpPr>
        <p:spPr>
          <a:xfrm>
            <a:off x="2871019" y="151180"/>
            <a:ext cx="7384026" cy="523220"/>
          </a:xfrm>
          <a:prstGeom prst="rect">
            <a:avLst/>
          </a:prstGeom>
          <a:noFill/>
        </p:spPr>
        <p:txBody>
          <a:bodyPr wrap="square">
            <a:spAutoFit/>
          </a:bodyPr>
          <a:lstStyle/>
          <a:p>
            <a:r>
              <a:rPr lang="en-IN" sz="2800" b="1" dirty="0">
                <a:solidFill>
                  <a:srgbClr val="FF0000"/>
                </a:solidFill>
                <a:latin typeface="Times New Roman" panose="02020603050405020304" pitchFamily="18" charset="0"/>
                <a:cs typeface="Times New Roman" panose="02020603050405020304" pitchFamily="18" charset="0"/>
              </a:rPr>
              <a:t>4. LEAVE AND ABSENCE PATTERNS</a:t>
            </a:r>
          </a:p>
        </p:txBody>
      </p:sp>
      <p:sp>
        <p:nvSpPr>
          <p:cNvPr id="5" name="TextBox 4">
            <a:extLst>
              <a:ext uri="{FF2B5EF4-FFF2-40B4-BE49-F238E27FC236}">
                <a16:creationId xmlns:a16="http://schemas.microsoft.com/office/drawing/2014/main" id="{8D78D981-684F-ED49-F179-2B91283AFD43}"/>
              </a:ext>
            </a:extLst>
          </p:cNvPr>
          <p:cNvSpPr txBox="1"/>
          <p:nvPr/>
        </p:nvSpPr>
        <p:spPr>
          <a:xfrm>
            <a:off x="835742" y="994559"/>
            <a:ext cx="7570839"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4.1 Which year had the most employees taking leaves?</a:t>
            </a:r>
          </a:p>
        </p:txBody>
      </p:sp>
      <p:sp>
        <p:nvSpPr>
          <p:cNvPr id="11" name="TextBox 10">
            <a:extLst>
              <a:ext uri="{FF2B5EF4-FFF2-40B4-BE49-F238E27FC236}">
                <a16:creationId xmlns:a16="http://schemas.microsoft.com/office/drawing/2014/main" id="{9C734434-471F-858F-92EF-102EBA486AAD}"/>
              </a:ext>
            </a:extLst>
          </p:cNvPr>
          <p:cNvSpPr txBox="1"/>
          <p:nvPr/>
        </p:nvSpPr>
        <p:spPr>
          <a:xfrm>
            <a:off x="7393859" y="2369652"/>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a:t>
            </a:r>
            <a:endParaRPr lang="en-IN" sz="240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96E68215-2B00-B353-F6B0-7E414748E963}"/>
              </a:ext>
            </a:extLst>
          </p:cNvPr>
          <p:cNvSpPr txBox="1"/>
          <p:nvPr/>
        </p:nvSpPr>
        <p:spPr>
          <a:xfrm>
            <a:off x="7312743" y="2903850"/>
            <a:ext cx="4338484" cy="1200329"/>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The year </a:t>
            </a:r>
            <a:r>
              <a:rPr lang="en-US" sz="1800" b="1" dirty="0">
                <a:latin typeface="Times New Roman" panose="02020603050405020304" pitchFamily="18" charset="0"/>
                <a:cs typeface="Times New Roman" panose="02020603050405020304" pitchFamily="18" charset="0"/>
              </a:rPr>
              <a:t>2024 recorded the highest number of leaves with 60 leave entries</a:t>
            </a:r>
            <a:r>
              <a:rPr lang="en-US" sz="1800" dirty="0">
                <a:latin typeface="Times New Roman" panose="02020603050405020304" pitchFamily="18" charset="0"/>
                <a:cs typeface="Times New Roman" panose="02020603050405020304" pitchFamily="18" charset="0"/>
              </a:rPr>
              <a:t>, indicating that all recorded leave activity in the dataset occurred during this year.</a:t>
            </a:r>
            <a:endParaRPr lang="en-IN" sz="1800"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F57FB3DE-E2E2-932F-B9AC-280137633F73}"/>
              </a:ext>
            </a:extLst>
          </p:cNvPr>
          <p:cNvPicPr>
            <a:picLocks noChangeAspect="1"/>
          </p:cNvPicPr>
          <p:nvPr/>
        </p:nvPicPr>
        <p:blipFill>
          <a:blip r:embed="rId2"/>
          <a:stretch>
            <a:fillRect/>
          </a:stretch>
        </p:blipFill>
        <p:spPr>
          <a:xfrm>
            <a:off x="1095972" y="4519245"/>
            <a:ext cx="2799233" cy="976987"/>
          </a:xfrm>
          <a:prstGeom prst="rect">
            <a:avLst/>
          </a:prstGeom>
        </p:spPr>
      </p:pic>
      <p:pic>
        <p:nvPicPr>
          <p:cNvPr id="15" name="Picture 14">
            <a:extLst>
              <a:ext uri="{FF2B5EF4-FFF2-40B4-BE49-F238E27FC236}">
                <a16:creationId xmlns:a16="http://schemas.microsoft.com/office/drawing/2014/main" id="{D472BA75-84E3-8658-87FC-FCE6D2A55666}"/>
              </a:ext>
            </a:extLst>
          </p:cNvPr>
          <p:cNvPicPr>
            <a:picLocks noChangeAspect="1"/>
          </p:cNvPicPr>
          <p:nvPr/>
        </p:nvPicPr>
        <p:blipFill>
          <a:blip r:embed="rId3"/>
          <a:stretch>
            <a:fillRect/>
          </a:stretch>
        </p:blipFill>
        <p:spPr>
          <a:xfrm>
            <a:off x="835742" y="1729065"/>
            <a:ext cx="3877388" cy="1574574"/>
          </a:xfrm>
          <a:prstGeom prst="rect">
            <a:avLst/>
          </a:prstGeom>
        </p:spPr>
      </p:pic>
      <p:sp>
        <p:nvSpPr>
          <p:cNvPr id="16" name="TextBox 15">
            <a:extLst>
              <a:ext uri="{FF2B5EF4-FFF2-40B4-BE49-F238E27FC236}">
                <a16:creationId xmlns:a16="http://schemas.microsoft.com/office/drawing/2014/main" id="{54CB98C1-EDA1-1715-CFBD-CE51F8DB632C}"/>
              </a:ext>
            </a:extLst>
          </p:cNvPr>
          <p:cNvSpPr txBox="1"/>
          <p:nvPr/>
        </p:nvSpPr>
        <p:spPr>
          <a:xfrm>
            <a:off x="1012254" y="3784739"/>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305A6B51-CACC-3FEB-9803-0858ED7862E9}"/>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278746730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95D9925-E3AE-3F9C-D185-4056E8A449BD}"/>
              </a:ext>
            </a:extLst>
          </p:cNvPr>
          <p:cNvSpPr txBox="1"/>
          <p:nvPr/>
        </p:nvSpPr>
        <p:spPr>
          <a:xfrm>
            <a:off x="462115" y="187678"/>
            <a:ext cx="11425085"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4.2 What is the average number of leave days taken by its employees per department?</a:t>
            </a:r>
          </a:p>
        </p:txBody>
      </p:sp>
      <p:sp>
        <p:nvSpPr>
          <p:cNvPr id="9" name="TextBox 8">
            <a:extLst>
              <a:ext uri="{FF2B5EF4-FFF2-40B4-BE49-F238E27FC236}">
                <a16:creationId xmlns:a16="http://schemas.microsoft.com/office/drawing/2014/main" id="{01B4376D-7DC1-AB6C-1136-0EEF7E242B43}"/>
              </a:ext>
            </a:extLst>
          </p:cNvPr>
          <p:cNvSpPr txBox="1"/>
          <p:nvPr/>
        </p:nvSpPr>
        <p:spPr>
          <a:xfrm>
            <a:off x="7669161" y="2347406"/>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 </a:t>
            </a:r>
            <a:endParaRPr lang="en-IN" sz="24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A9F5F345-167D-4F6B-E408-F33EF9EC787B}"/>
              </a:ext>
            </a:extLst>
          </p:cNvPr>
          <p:cNvSpPr txBox="1"/>
          <p:nvPr/>
        </p:nvSpPr>
        <p:spPr>
          <a:xfrm>
            <a:off x="7536427" y="2809071"/>
            <a:ext cx="4193458" cy="1477328"/>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The average number of leave days per employee is </a:t>
            </a:r>
            <a:r>
              <a:rPr lang="en-US" sz="1800" b="1" dirty="0">
                <a:latin typeface="Times New Roman" panose="02020603050405020304" pitchFamily="18" charset="0"/>
                <a:cs typeface="Times New Roman" panose="02020603050405020304" pitchFamily="18" charset="0"/>
              </a:rPr>
              <a:t>1 across all departments</a:t>
            </a:r>
            <a:r>
              <a:rPr lang="en-US" sz="1800" dirty="0">
                <a:latin typeface="Times New Roman" panose="02020603050405020304" pitchFamily="18" charset="0"/>
                <a:cs typeface="Times New Roman" panose="02020603050405020304" pitchFamily="18" charset="0"/>
              </a:rPr>
              <a:t>, indicating consistent leave utilization and balanced workforce attendance throughout the organization.</a:t>
            </a:r>
            <a:endParaRPr lang="en-IN"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293939D-9911-C174-3025-839498193C79}"/>
              </a:ext>
            </a:extLst>
          </p:cNvPr>
          <p:cNvPicPr>
            <a:picLocks noChangeAspect="1"/>
          </p:cNvPicPr>
          <p:nvPr/>
        </p:nvPicPr>
        <p:blipFill>
          <a:blip r:embed="rId2"/>
          <a:stretch>
            <a:fillRect/>
          </a:stretch>
        </p:blipFill>
        <p:spPr>
          <a:xfrm>
            <a:off x="597639" y="3962808"/>
            <a:ext cx="2850382" cy="2585476"/>
          </a:xfrm>
          <a:prstGeom prst="rect">
            <a:avLst/>
          </a:prstGeom>
        </p:spPr>
      </p:pic>
      <p:pic>
        <p:nvPicPr>
          <p:cNvPr id="8" name="Picture 7">
            <a:extLst>
              <a:ext uri="{FF2B5EF4-FFF2-40B4-BE49-F238E27FC236}">
                <a16:creationId xmlns:a16="http://schemas.microsoft.com/office/drawing/2014/main" id="{9DAE9C58-0200-3F2E-BDB4-2D642CC4DDB8}"/>
              </a:ext>
            </a:extLst>
          </p:cNvPr>
          <p:cNvPicPr>
            <a:picLocks noChangeAspect="1"/>
          </p:cNvPicPr>
          <p:nvPr/>
        </p:nvPicPr>
        <p:blipFill>
          <a:blip r:embed="rId3"/>
          <a:stretch>
            <a:fillRect/>
          </a:stretch>
        </p:blipFill>
        <p:spPr>
          <a:xfrm>
            <a:off x="597639" y="814367"/>
            <a:ext cx="6544588" cy="2495898"/>
          </a:xfrm>
          <a:prstGeom prst="rect">
            <a:avLst/>
          </a:prstGeom>
        </p:spPr>
      </p:pic>
      <p:sp>
        <p:nvSpPr>
          <p:cNvPr id="10" name="TextBox 9">
            <a:extLst>
              <a:ext uri="{FF2B5EF4-FFF2-40B4-BE49-F238E27FC236}">
                <a16:creationId xmlns:a16="http://schemas.microsoft.com/office/drawing/2014/main" id="{A22780B9-1141-35C8-AE99-11A938587861}"/>
              </a:ext>
            </a:extLst>
          </p:cNvPr>
          <p:cNvSpPr txBox="1"/>
          <p:nvPr/>
        </p:nvSpPr>
        <p:spPr>
          <a:xfrm>
            <a:off x="597639" y="3316903"/>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38A67E08-9A4E-5FC9-9780-FD4375EED7FA}"/>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2598333784"/>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73CD18-09AD-8D7C-A42D-BB3ABBFAEB71}"/>
              </a:ext>
            </a:extLst>
          </p:cNvPr>
          <p:cNvSpPr txBox="1"/>
          <p:nvPr/>
        </p:nvSpPr>
        <p:spPr>
          <a:xfrm>
            <a:off x="629265" y="440019"/>
            <a:ext cx="6646606"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4.3 Which employees have taken the most leaves?</a:t>
            </a:r>
          </a:p>
        </p:txBody>
      </p:sp>
      <p:sp>
        <p:nvSpPr>
          <p:cNvPr id="9" name="TextBox 8">
            <a:extLst>
              <a:ext uri="{FF2B5EF4-FFF2-40B4-BE49-F238E27FC236}">
                <a16:creationId xmlns:a16="http://schemas.microsoft.com/office/drawing/2014/main" id="{36BE0123-D707-9708-6F02-91E86A2DF8D1}"/>
              </a:ext>
            </a:extLst>
          </p:cNvPr>
          <p:cNvSpPr txBox="1"/>
          <p:nvPr/>
        </p:nvSpPr>
        <p:spPr>
          <a:xfrm>
            <a:off x="7123467" y="2156905"/>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 </a:t>
            </a:r>
            <a:endParaRPr lang="en-IN" sz="24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D73BA84B-3DD8-9730-9864-AD0CDF3504B5}"/>
              </a:ext>
            </a:extLst>
          </p:cNvPr>
          <p:cNvSpPr txBox="1"/>
          <p:nvPr/>
        </p:nvSpPr>
        <p:spPr>
          <a:xfrm>
            <a:off x="6985821" y="2618570"/>
            <a:ext cx="4852219" cy="1200329"/>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All employees have </a:t>
            </a:r>
            <a:r>
              <a:rPr lang="en-US" sz="1800" b="1" dirty="0">
                <a:latin typeface="Times New Roman" panose="02020603050405020304" pitchFamily="18" charset="0"/>
                <a:cs typeface="Times New Roman" panose="02020603050405020304" pitchFamily="18" charset="0"/>
              </a:rPr>
              <a:t>exactly one recorded leave</a:t>
            </a:r>
            <a:r>
              <a:rPr lang="en-US" sz="1800" dirty="0">
                <a:latin typeface="Times New Roman" panose="02020603050405020304" pitchFamily="18" charset="0"/>
                <a:cs typeface="Times New Roman" panose="02020603050405020304" pitchFamily="18" charset="0"/>
              </a:rPr>
              <a:t>, indicating a uniform leave distribution with no employee taking more leave than others in the dataset.</a:t>
            </a:r>
            <a:endParaRPr lang="en-IN"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C0B5C73-FFFD-9983-4252-1407A2C63F85}"/>
              </a:ext>
            </a:extLst>
          </p:cNvPr>
          <p:cNvPicPr>
            <a:picLocks noChangeAspect="1"/>
          </p:cNvPicPr>
          <p:nvPr/>
        </p:nvPicPr>
        <p:blipFill>
          <a:blip r:embed="rId2"/>
          <a:stretch>
            <a:fillRect/>
          </a:stretch>
        </p:blipFill>
        <p:spPr>
          <a:xfrm>
            <a:off x="781557" y="3769661"/>
            <a:ext cx="3467584" cy="2648320"/>
          </a:xfrm>
          <a:prstGeom prst="rect">
            <a:avLst/>
          </a:prstGeom>
        </p:spPr>
      </p:pic>
      <p:pic>
        <p:nvPicPr>
          <p:cNvPr id="8" name="Picture 7">
            <a:extLst>
              <a:ext uri="{FF2B5EF4-FFF2-40B4-BE49-F238E27FC236}">
                <a16:creationId xmlns:a16="http://schemas.microsoft.com/office/drawing/2014/main" id="{5811B6F0-AB9A-55D0-A031-BDDC1E36A0CE}"/>
              </a:ext>
            </a:extLst>
          </p:cNvPr>
          <p:cNvPicPr>
            <a:picLocks noChangeAspect="1"/>
          </p:cNvPicPr>
          <p:nvPr/>
        </p:nvPicPr>
        <p:blipFill>
          <a:blip r:embed="rId3"/>
          <a:stretch>
            <a:fillRect/>
          </a:stretch>
        </p:blipFill>
        <p:spPr>
          <a:xfrm>
            <a:off x="629265" y="1113416"/>
            <a:ext cx="4439270" cy="1886213"/>
          </a:xfrm>
          <a:prstGeom prst="rect">
            <a:avLst/>
          </a:prstGeom>
        </p:spPr>
      </p:pic>
      <p:sp>
        <p:nvSpPr>
          <p:cNvPr id="10" name="TextBox 9">
            <a:extLst>
              <a:ext uri="{FF2B5EF4-FFF2-40B4-BE49-F238E27FC236}">
                <a16:creationId xmlns:a16="http://schemas.microsoft.com/office/drawing/2014/main" id="{4CE76DAA-A65C-AAA5-7BE8-A4D34385FC90}"/>
              </a:ext>
            </a:extLst>
          </p:cNvPr>
          <p:cNvSpPr txBox="1"/>
          <p:nvPr/>
        </p:nvSpPr>
        <p:spPr>
          <a:xfrm>
            <a:off x="629265" y="3218735"/>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74FEE700-1CA8-C54D-8748-E272FB2515EF}"/>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105523588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245CEA3-9345-2E82-80AD-60240091CB66}"/>
              </a:ext>
            </a:extLst>
          </p:cNvPr>
          <p:cNvSpPr txBox="1"/>
          <p:nvPr/>
        </p:nvSpPr>
        <p:spPr>
          <a:xfrm>
            <a:off x="825909" y="692137"/>
            <a:ext cx="8878529"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4.4 What is the total number of leave days taken company-wide?</a:t>
            </a:r>
          </a:p>
        </p:txBody>
      </p:sp>
      <p:pic>
        <p:nvPicPr>
          <p:cNvPr id="5" name="Picture 4">
            <a:extLst>
              <a:ext uri="{FF2B5EF4-FFF2-40B4-BE49-F238E27FC236}">
                <a16:creationId xmlns:a16="http://schemas.microsoft.com/office/drawing/2014/main" id="{A10CA691-9553-5894-D2F8-915BC8B8403C}"/>
              </a:ext>
            </a:extLst>
          </p:cNvPr>
          <p:cNvPicPr>
            <a:picLocks noChangeAspect="1"/>
          </p:cNvPicPr>
          <p:nvPr/>
        </p:nvPicPr>
        <p:blipFill>
          <a:blip r:embed="rId2"/>
          <a:stretch>
            <a:fillRect/>
          </a:stretch>
        </p:blipFill>
        <p:spPr>
          <a:xfrm>
            <a:off x="984807" y="1774468"/>
            <a:ext cx="4059142" cy="722926"/>
          </a:xfrm>
          <a:prstGeom prst="rect">
            <a:avLst/>
          </a:prstGeom>
        </p:spPr>
      </p:pic>
      <p:pic>
        <p:nvPicPr>
          <p:cNvPr id="7" name="Picture 6">
            <a:extLst>
              <a:ext uri="{FF2B5EF4-FFF2-40B4-BE49-F238E27FC236}">
                <a16:creationId xmlns:a16="http://schemas.microsoft.com/office/drawing/2014/main" id="{2123D160-61FE-D35A-40A2-4F8154562A39}"/>
              </a:ext>
            </a:extLst>
          </p:cNvPr>
          <p:cNvPicPr>
            <a:picLocks noChangeAspect="1"/>
          </p:cNvPicPr>
          <p:nvPr/>
        </p:nvPicPr>
        <p:blipFill>
          <a:blip r:embed="rId3"/>
          <a:stretch>
            <a:fillRect/>
          </a:stretch>
        </p:blipFill>
        <p:spPr>
          <a:xfrm>
            <a:off x="1091380" y="3929999"/>
            <a:ext cx="2248214" cy="1267002"/>
          </a:xfrm>
          <a:prstGeom prst="rect">
            <a:avLst/>
          </a:prstGeom>
        </p:spPr>
      </p:pic>
      <p:sp>
        <p:nvSpPr>
          <p:cNvPr id="9" name="TextBox 8">
            <a:extLst>
              <a:ext uri="{FF2B5EF4-FFF2-40B4-BE49-F238E27FC236}">
                <a16:creationId xmlns:a16="http://schemas.microsoft.com/office/drawing/2014/main" id="{CB502CEB-BD29-DEDB-4FF4-672627858B4C}"/>
              </a:ext>
            </a:extLst>
          </p:cNvPr>
          <p:cNvSpPr txBox="1"/>
          <p:nvPr/>
        </p:nvSpPr>
        <p:spPr>
          <a:xfrm>
            <a:off x="7344697" y="2497394"/>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a:t>
            </a:r>
            <a:endParaRPr lang="en-IN" sz="24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B28A3566-9ABE-0B81-9FEA-49594E4945FC}"/>
              </a:ext>
            </a:extLst>
          </p:cNvPr>
          <p:cNvSpPr txBox="1"/>
          <p:nvPr/>
        </p:nvSpPr>
        <p:spPr>
          <a:xfrm>
            <a:off x="7236542" y="3043961"/>
            <a:ext cx="4630994" cy="1200329"/>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Employees collectively took </a:t>
            </a:r>
            <a:r>
              <a:rPr lang="en-US" sz="1800" b="1" dirty="0">
                <a:latin typeface="Times New Roman" panose="02020603050405020304" pitchFamily="18" charset="0"/>
                <a:cs typeface="Times New Roman" panose="02020603050405020304" pitchFamily="18" charset="0"/>
              </a:rPr>
              <a:t>60 leave days across the organization</a:t>
            </a:r>
            <a:r>
              <a:rPr lang="en-US" sz="1800" dirty="0">
                <a:latin typeface="Times New Roman" panose="02020603050405020304" pitchFamily="18" charset="0"/>
                <a:cs typeface="Times New Roman" panose="02020603050405020304" pitchFamily="18" charset="0"/>
              </a:rPr>
              <a:t>, averaging </a:t>
            </a:r>
            <a:r>
              <a:rPr lang="en-US" sz="1800" b="1" dirty="0">
                <a:latin typeface="Times New Roman" panose="02020603050405020304" pitchFamily="18" charset="0"/>
                <a:cs typeface="Times New Roman" panose="02020603050405020304" pitchFamily="18" charset="0"/>
              </a:rPr>
              <a:t>one leave day per employee</a:t>
            </a:r>
            <a:r>
              <a:rPr lang="en-US" sz="1800" dirty="0">
                <a:latin typeface="Times New Roman" panose="02020603050405020304" pitchFamily="18" charset="0"/>
                <a:cs typeface="Times New Roman" panose="02020603050405020304" pitchFamily="18" charset="0"/>
              </a:rPr>
              <a:t>, indicating balanced leave utilization within the workforce.</a:t>
            </a:r>
            <a:endParaRPr lang="en-IN" sz="18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349E3505-C849-F0CC-3AE4-3364A268816C}"/>
              </a:ext>
            </a:extLst>
          </p:cNvPr>
          <p:cNvSpPr txBox="1"/>
          <p:nvPr/>
        </p:nvSpPr>
        <p:spPr>
          <a:xfrm>
            <a:off x="984807" y="3334580"/>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2A3862D-A273-BE6F-FC49-468A8BA0CB00}"/>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2775637823"/>
      </p:ext>
    </p:extLst>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5B6D50D-9600-4B8B-BC92-5B648E5B4D51}"/>
              </a:ext>
            </a:extLst>
          </p:cNvPr>
          <p:cNvSpPr txBox="1"/>
          <p:nvPr/>
        </p:nvSpPr>
        <p:spPr>
          <a:xfrm>
            <a:off x="934065" y="602476"/>
            <a:ext cx="7855974"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4.5 How do leave days correlate with payroll amounts?</a:t>
            </a:r>
          </a:p>
        </p:txBody>
      </p:sp>
      <p:sp>
        <p:nvSpPr>
          <p:cNvPr id="9" name="TextBox 8">
            <a:extLst>
              <a:ext uri="{FF2B5EF4-FFF2-40B4-BE49-F238E27FC236}">
                <a16:creationId xmlns:a16="http://schemas.microsoft.com/office/drawing/2014/main" id="{D1FA3374-3997-A4AF-1C62-891A1BE00ECB}"/>
              </a:ext>
            </a:extLst>
          </p:cNvPr>
          <p:cNvSpPr txBox="1"/>
          <p:nvPr/>
        </p:nvSpPr>
        <p:spPr>
          <a:xfrm>
            <a:off x="7030065" y="2164432"/>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 </a:t>
            </a:r>
            <a:endParaRPr lang="en-IN" sz="24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184CF4FB-2F2A-C96B-6FA4-2E5CEB74406B}"/>
              </a:ext>
            </a:extLst>
          </p:cNvPr>
          <p:cNvSpPr txBox="1"/>
          <p:nvPr/>
        </p:nvSpPr>
        <p:spPr>
          <a:xfrm>
            <a:off x="7030065" y="2673579"/>
            <a:ext cx="4817806" cy="2031325"/>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All employees have </a:t>
            </a:r>
            <a:r>
              <a:rPr lang="en-US" sz="1800" b="1" dirty="0">
                <a:latin typeface="Times New Roman" panose="02020603050405020304" pitchFamily="18" charset="0"/>
                <a:cs typeface="Times New Roman" panose="02020603050405020304" pitchFamily="18" charset="0"/>
              </a:rPr>
              <a:t>one leave day</a:t>
            </a:r>
            <a:r>
              <a:rPr lang="en-US" sz="1800" dirty="0">
                <a:latin typeface="Times New Roman" panose="02020603050405020304" pitchFamily="18" charset="0"/>
                <a:cs typeface="Times New Roman" panose="02020603050405020304" pitchFamily="18" charset="0"/>
              </a:rPr>
              <a:t>, while payroll amounts vary across employees. This indicates that payroll differences are driven by </a:t>
            </a:r>
            <a:r>
              <a:rPr lang="en-US" sz="1800" b="1" dirty="0">
                <a:latin typeface="Times New Roman" panose="02020603050405020304" pitchFamily="18" charset="0"/>
                <a:cs typeface="Times New Roman" panose="02020603050405020304" pitchFamily="18" charset="0"/>
              </a:rPr>
              <a:t>job roles and salary structures rather than leave deductions</a:t>
            </a:r>
            <a:r>
              <a:rPr lang="en-US" sz="1800" dirty="0">
                <a:latin typeface="Times New Roman" panose="02020603050405020304" pitchFamily="18" charset="0"/>
                <a:cs typeface="Times New Roman" panose="02020603050405020304" pitchFamily="18" charset="0"/>
              </a:rPr>
              <a:t>, making it difficult to identify a correlation between leave days and payroll in this dataset.</a:t>
            </a:r>
            <a:endParaRPr lang="en-IN"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A3321EC-BA8E-5BF9-BF27-4697377B3429}"/>
              </a:ext>
            </a:extLst>
          </p:cNvPr>
          <p:cNvPicPr>
            <a:picLocks noChangeAspect="1"/>
          </p:cNvPicPr>
          <p:nvPr/>
        </p:nvPicPr>
        <p:blipFill>
          <a:blip r:embed="rId2"/>
          <a:stretch>
            <a:fillRect/>
          </a:stretch>
        </p:blipFill>
        <p:spPr>
          <a:xfrm>
            <a:off x="984807" y="3726388"/>
            <a:ext cx="3067478" cy="3000794"/>
          </a:xfrm>
          <a:prstGeom prst="rect">
            <a:avLst/>
          </a:prstGeom>
        </p:spPr>
      </p:pic>
      <p:pic>
        <p:nvPicPr>
          <p:cNvPr id="8" name="Picture 7">
            <a:extLst>
              <a:ext uri="{FF2B5EF4-FFF2-40B4-BE49-F238E27FC236}">
                <a16:creationId xmlns:a16="http://schemas.microsoft.com/office/drawing/2014/main" id="{F38699AC-4D7E-5C0A-D643-0365C6AB5310}"/>
              </a:ext>
            </a:extLst>
          </p:cNvPr>
          <p:cNvPicPr>
            <a:picLocks noChangeAspect="1"/>
          </p:cNvPicPr>
          <p:nvPr/>
        </p:nvPicPr>
        <p:blipFill>
          <a:blip r:embed="rId3"/>
          <a:stretch>
            <a:fillRect/>
          </a:stretch>
        </p:blipFill>
        <p:spPr>
          <a:xfrm>
            <a:off x="984807" y="1064141"/>
            <a:ext cx="4877481" cy="2200582"/>
          </a:xfrm>
          <a:prstGeom prst="rect">
            <a:avLst/>
          </a:prstGeom>
        </p:spPr>
      </p:pic>
      <p:sp>
        <p:nvSpPr>
          <p:cNvPr id="10" name="TextBox 9">
            <a:extLst>
              <a:ext uri="{FF2B5EF4-FFF2-40B4-BE49-F238E27FC236}">
                <a16:creationId xmlns:a16="http://schemas.microsoft.com/office/drawing/2014/main" id="{9F51A022-88B8-C1EA-C646-A60F38ED12B1}"/>
              </a:ext>
            </a:extLst>
          </p:cNvPr>
          <p:cNvSpPr txBox="1"/>
          <p:nvPr/>
        </p:nvSpPr>
        <p:spPr>
          <a:xfrm>
            <a:off x="984807" y="3264723"/>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659711DB-0FD1-8C9D-F013-2B02E4C2FD5C}"/>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312270579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FC98FDD-99C8-5FA5-884B-4BEA6FFFBC08}"/>
              </a:ext>
            </a:extLst>
          </p:cNvPr>
          <p:cNvSpPr txBox="1"/>
          <p:nvPr/>
        </p:nvSpPr>
        <p:spPr>
          <a:xfrm>
            <a:off x="1995947" y="172102"/>
            <a:ext cx="8514737" cy="523220"/>
          </a:xfrm>
          <a:prstGeom prst="rect">
            <a:avLst/>
          </a:prstGeom>
          <a:noFill/>
        </p:spPr>
        <p:txBody>
          <a:bodyPr wrap="square">
            <a:spAutoFit/>
          </a:bodyPr>
          <a:lstStyle/>
          <a:p>
            <a:r>
              <a:rPr lang="en-IN" sz="2800" b="1" dirty="0">
                <a:solidFill>
                  <a:srgbClr val="FF0000"/>
                </a:solidFill>
                <a:latin typeface="Times New Roman" panose="02020603050405020304" pitchFamily="18" charset="0"/>
                <a:cs typeface="Times New Roman" panose="02020603050405020304" pitchFamily="18" charset="0"/>
              </a:rPr>
              <a:t>5. PAYROLL AND COMPENSATION ANALYSIS</a:t>
            </a:r>
          </a:p>
        </p:txBody>
      </p:sp>
      <p:sp>
        <p:nvSpPr>
          <p:cNvPr id="5" name="TextBox 4">
            <a:extLst>
              <a:ext uri="{FF2B5EF4-FFF2-40B4-BE49-F238E27FC236}">
                <a16:creationId xmlns:a16="http://schemas.microsoft.com/office/drawing/2014/main" id="{B92EB2D0-987A-C39A-0228-4C845D99189F}"/>
              </a:ext>
            </a:extLst>
          </p:cNvPr>
          <p:cNvSpPr txBox="1"/>
          <p:nvPr/>
        </p:nvSpPr>
        <p:spPr>
          <a:xfrm>
            <a:off x="737419" y="830169"/>
            <a:ext cx="6558116"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5.1 What is the total monthly payroll processed?</a:t>
            </a:r>
          </a:p>
        </p:txBody>
      </p:sp>
      <p:pic>
        <p:nvPicPr>
          <p:cNvPr id="7" name="Picture 6">
            <a:extLst>
              <a:ext uri="{FF2B5EF4-FFF2-40B4-BE49-F238E27FC236}">
                <a16:creationId xmlns:a16="http://schemas.microsoft.com/office/drawing/2014/main" id="{34AA7779-3CDC-E65B-CE7B-9C2F2B4A6EBA}"/>
              </a:ext>
            </a:extLst>
          </p:cNvPr>
          <p:cNvPicPr>
            <a:picLocks noChangeAspect="1"/>
          </p:cNvPicPr>
          <p:nvPr/>
        </p:nvPicPr>
        <p:blipFill>
          <a:blip r:embed="rId2"/>
          <a:stretch>
            <a:fillRect/>
          </a:stretch>
        </p:blipFill>
        <p:spPr>
          <a:xfrm>
            <a:off x="517752" y="1291834"/>
            <a:ext cx="4960008" cy="1912152"/>
          </a:xfrm>
          <a:prstGeom prst="rect">
            <a:avLst/>
          </a:prstGeom>
        </p:spPr>
      </p:pic>
      <p:pic>
        <p:nvPicPr>
          <p:cNvPr id="9" name="Picture 8">
            <a:extLst>
              <a:ext uri="{FF2B5EF4-FFF2-40B4-BE49-F238E27FC236}">
                <a16:creationId xmlns:a16="http://schemas.microsoft.com/office/drawing/2014/main" id="{38E91C1B-0883-2A5F-7D97-CAA81B317750}"/>
              </a:ext>
            </a:extLst>
          </p:cNvPr>
          <p:cNvPicPr>
            <a:picLocks noChangeAspect="1"/>
          </p:cNvPicPr>
          <p:nvPr/>
        </p:nvPicPr>
        <p:blipFill>
          <a:blip r:embed="rId3"/>
          <a:stretch>
            <a:fillRect/>
          </a:stretch>
        </p:blipFill>
        <p:spPr>
          <a:xfrm>
            <a:off x="761454" y="4140917"/>
            <a:ext cx="4001058" cy="2029108"/>
          </a:xfrm>
          <a:prstGeom prst="rect">
            <a:avLst/>
          </a:prstGeom>
        </p:spPr>
      </p:pic>
      <p:sp>
        <p:nvSpPr>
          <p:cNvPr id="11" name="TextBox 10">
            <a:extLst>
              <a:ext uri="{FF2B5EF4-FFF2-40B4-BE49-F238E27FC236}">
                <a16:creationId xmlns:a16="http://schemas.microsoft.com/office/drawing/2014/main" id="{7701D76F-573F-8380-0EE7-B155D9812591}"/>
              </a:ext>
            </a:extLst>
          </p:cNvPr>
          <p:cNvSpPr txBox="1"/>
          <p:nvPr/>
        </p:nvSpPr>
        <p:spPr>
          <a:xfrm>
            <a:off x="7295535" y="2158619"/>
            <a:ext cx="6096000"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Insight :</a:t>
            </a:r>
            <a:endParaRPr lang="en-IN" sz="280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60725774-2D74-CB3E-382D-E47A5A4E23E6}"/>
              </a:ext>
            </a:extLst>
          </p:cNvPr>
          <p:cNvSpPr txBox="1"/>
          <p:nvPr/>
        </p:nvSpPr>
        <p:spPr>
          <a:xfrm>
            <a:off x="7193196" y="2755131"/>
            <a:ext cx="4579374" cy="1200329"/>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The total payroll processed in </a:t>
            </a:r>
            <a:r>
              <a:rPr lang="en-US" sz="1800" b="1" dirty="0">
                <a:latin typeface="Times New Roman" panose="02020603050405020304" pitchFamily="18" charset="0"/>
                <a:cs typeface="Times New Roman" panose="02020603050405020304" pitchFamily="18" charset="0"/>
              </a:rPr>
              <a:t>April 2024 was 2,778,000</a:t>
            </a:r>
            <a:r>
              <a:rPr lang="en-US" sz="1800" dirty="0">
                <a:latin typeface="Times New Roman" panose="02020603050405020304" pitchFamily="18" charset="0"/>
                <a:cs typeface="Times New Roman" panose="02020603050405020304" pitchFamily="18" charset="0"/>
              </a:rPr>
              <a:t>, representing the company’s monthly salary expenditure for employees during that period.</a:t>
            </a:r>
            <a:endParaRPr lang="en-IN" sz="18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F74761DA-063E-8EDC-2875-14A3CAEF9DB6}"/>
              </a:ext>
            </a:extLst>
          </p:cNvPr>
          <p:cNvSpPr txBox="1"/>
          <p:nvPr/>
        </p:nvSpPr>
        <p:spPr>
          <a:xfrm>
            <a:off x="876653" y="3493795"/>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A808F3E-51DC-3D93-67E2-6C1F17757DE1}"/>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342222649"/>
      </p:ext>
    </p:extLst>
  </p:cSld>
  <p:clrMapOvr>
    <a:masterClrMapping/>
  </p:clrMapOvr>
  <p:transition spd="slow">
    <p:cove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1EC383B-E815-EB0E-AC36-83A6ACF8DC72}"/>
              </a:ext>
            </a:extLst>
          </p:cNvPr>
          <p:cNvSpPr txBox="1"/>
          <p:nvPr/>
        </p:nvSpPr>
        <p:spPr>
          <a:xfrm>
            <a:off x="1061884" y="543576"/>
            <a:ext cx="7855974"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5.2 What is the average bonus given per department?</a:t>
            </a:r>
          </a:p>
        </p:txBody>
      </p:sp>
      <p:sp>
        <p:nvSpPr>
          <p:cNvPr id="9" name="TextBox 8">
            <a:extLst>
              <a:ext uri="{FF2B5EF4-FFF2-40B4-BE49-F238E27FC236}">
                <a16:creationId xmlns:a16="http://schemas.microsoft.com/office/drawing/2014/main" id="{3B403437-9E41-17EF-D963-8B76A4BF87BA}"/>
              </a:ext>
            </a:extLst>
          </p:cNvPr>
          <p:cNvSpPr txBox="1"/>
          <p:nvPr/>
        </p:nvSpPr>
        <p:spPr>
          <a:xfrm>
            <a:off x="6990736" y="2008462"/>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a:t>
            </a:r>
            <a:endParaRPr lang="en-IN" sz="24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91F3C0AC-442F-5413-42C3-23DB6E2F58E4}"/>
              </a:ext>
            </a:extLst>
          </p:cNvPr>
          <p:cNvSpPr txBox="1"/>
          <p:nvPr/>
        </p:nvSpPr>
        <p:spPr>
          <a:xfrm>
            <a:off x="6820652" y="2551837"/>
            <a:ext cx="5083277" cy="1754326"/>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Legal department receives the highest average bonus (13.3K)</a:t>
            </a:r>
            <a:r>
              <a:rPr lang="en-US" sz="1800" dirty="0">
                <a:latin typeface="Times New Roman" panose="02020603050405020304" pitchFamily="18" charset="0"/>
                <a:cs typeface="Times New Roman" panose="02020603050405020304" pitchFamily="18" charset="0"/>
              </a:rPr>
              <a:t>, followed by </a:t>
            </a:r>
            <a:r>
              <a:rPr lang="en-US" sz="1800" b="1" dirty="0">
                <a:latin typeface="Times New Roman" panose="02020603050405020304" pitchFamily="18" charset="0"/>
                <a:cs typeface="Times New Roman" panose="02020603050405020304" pitchFamily="18" charset="0"/>
              </a:rPr>
              <a:t>Engineering (12.6K)</a:t>
            </a:r>
            <a:r>
              <a:rPr lang="en-US" sz="1800" dirty="0">
                <a:latin typeface="Times New Roman" panose="02020603050405020304" pitchFamily="18" charset="0"/>
                <a:cs typeface="Times New Roman" panose="02020603050405020304" pitchFamily="18" charset="0"/>
              </a:rPr>
              <a:t>. In contrast, </a:t>
            </a:r>
            <a:r>
              <a:rPr lang="en-US" sz="1800" b="1" dirty="0">
                <a:latin typeface="Times New Roman" panose="02020603050405020304" pitchFamily="18" charset="0"/>
                <a:cs typeface="Times New Roman" panose="02020603050405020304" pitchFamily="18" charset="0"/>
              </a:rPr>
              <a:t>HR and Marketing have lower average bonuses</a:t>
            </a:r>
            <a:r>
              <a:rPr lang="en-US" sz="1800" dirty="0">
                <a:latin typeface="Times New Roman" panose="02020603050405020304" pitchFamily="18" charset="0"/>
                <a:cs typeface="Times New Roman" panose="02020603050405020304" pitchFamily="18" charset="0"/>
              </a:rPr>
              <a:t>, indicating differences in incentive structures across departments based on role specialization and responsibilities.</a:t>
            </a:r>
            <a:endParaRPr lang="en-IN"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D117ADE-E433-65B8-D97A-17077767EDC4}"/>
              </a:ext>
            </a:extLst>
          </p:cNvPr>
          <p:cNvPicPr>
            <a:picLocks noChangeAspect="1"/>
          </p:cNvPicPr>
          <p:nvPr/>
        </p:nvPicPr>
        <p:blipFill>
          <a:blip r:embed="rId2"/>
          <a:stretch>
            <a:fillRect/>
          </a:stretch>
        </p:blipFill>
        <p:spPr>
          <a:xfrm>
            <a:off x="1231998" y="3770207"/>
            <a:ext cx="2986041" cy="2702196"/>
          </a:xfrm>
          <a:prstGeom prst="rect">
            <a:avLst/>
          </a:prstGeom>
        </p:spPr>
      </p:pic>
      <p:pic>
        <p:nvPicPr>
          <p:cNvPr id="8" name="Picture 7">
            <a:extLst>
              <a:ext uri="{FF2B5EF4-FFF2-40B4-BE49-F238E27FC236}">
                <a16:creationId xmlns:a16="http://schemas.microsoft.com/office/drawing/2014/main" id="{69C5EBE0-8686-AB73-0DA7-AA76413EA8DA}"/>
              </a:ext>
            </a:extLst>
          </p:cNvPr>
          <p:cNvPicPr>
            <a:picLocks noChangeAspect="1"/>
          </p:cNvPicPr>
          <p:nvPr/>
        </p:nvPicPr>
        <p:blipFill>
          <a:blip r:embed="rId3"/>
          <a:stretch>
            <a:fillRect/>
          </a:stretch>
        </p:blipFill>
        <p:spPr>
          <a:xfrm>
            <a:off x="1046235" y="1193862"/>
            <a:ext cx="5382376" cy="1804977"/>
          </a:xfrm>
          <a:prstGeom prst="rect">
            <a:avLst/>
          </a:prstGeom>
        </p:spPr>
      </p:pic>
      <p:sp>
        <p:nvSpPr>
          <p:cNvPr id="10" name="TextBox 9">
            <a:extLst>
              <a:ext uri="{FF2B5EF4-FFF2-40B4-BE49-F238E27FC236}">
                <a16:creationId xmlns:a16="http://schemas.microsoft.com/office/drawing/2014/main" id="{E189A8F6-5A0E-E6A7-FF0C-DCD5C6110723}"/>
              </a:ext>
            </a:extLst>
          </p:cNvPr>
          <p:cNvSpPr txBox="1"/>
          <p:nvPr/>
        </p:nvSpPr>
        <p:spPr>
          <a:xfrm>
            <a:off x="1151956" y="3198167"/>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8C3E6950-D20F-64E9-BD70-E8DA207EB972}"/>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163861234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C912F37-C7AB-3D47-99F1-EE3CCE3BB51E}"/>
              </a:ext>
            </a:extLst>
          </p:cNvPr>
          <p:cNvSpPr txBox="1"/>
          <p:nvPr/>
        </p:nvSpPr>
        <p:spPr>
          <a:xfrm>
            <a:off x="786581" y="404755"/>
            <a:ext cx="8082116"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5.3 Which department receives the highest total bonuses?</a:t>
            </a:r>
          </a:p>
        </p:txBody>
      </p:sp>
      <p:sp>
        <p:nvSpPr>
          <p:cNvPr id="9" name="TextBox 8">
            <a:extLst>
              <a:ext uri="{FF2B5EF4-FFF2-40B4-BE49-F238E27FC236}">
                <a16:creationId xmlns:a16="http://schemas.microsoft.com/office/drawing/2014/main" id="{EF7DB120-D8DA-7ECA-62C8-C51F74421789}"/>
              </a:ext>
            </a:extLst>
          </p:cNvPr>
          <p:cNvSpPr txBox="1"/>
          <p:nvPr/>
        </p:nvSpPr>
        <p:spPr>
          <a:xfrm>
            <a:off x="7388327" y="2451954"/>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a:t>
            </a:r>
            <a:endParaRPr lang="en-IN" sz="24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F78E5D27-BE99-D34D-A9C0-89795AEB92E9}"/>
              </a:ext>
            </a:extLst>
          </p:cNvPr>
          <p:cNvSpPr txBox="1"/>
          <p:nvPr/>
        </p:nvSpPr>
        <p:spPr>
          <a:xfrm>
            <a:off x="7130845" y="2985065"/>
            <a:ext cx="5061155" cy="1477328"/>
          </a:xfrm>
          <a:prstGeom prst="rect">
            <a:avLst/>
          </a:prstGeom>
          <a:noFill/>
        </p:spPr>
        <p:txBody>
          <a:bodyPr wrap="square">
            <a:spAutoFit/>
          </a:bodyPr>
          <a:lstStyle/>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Finance department receives the highest total bonus allocation (96,000)</a:t>
            </a:r>
            <a:r>
              <a:rPr lang="en-US" sz="1800" dirty="0">
                <a:latin typeface="Times New Roman" panose="02020603050405020304" pitchFamily="18" charset="0"/>
                <a:cs typeface="Times New Roman" panose="02020603050405020304" pitchFamily="18" charset="0"/>
              </a:rPr>
              <a:t>, indicating that employees in this department receive the largest share of incentive rewards within the organization.</a:t>
            </a:r>
            <a:endParaRPr lang="en-IN" sz="18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38E35A61-CA42-D872-B667-D96136180867}"/>
              </a:ext>
            </a:extLst>
          </p:cNvPr>
          <p:cNvSpPr txBox="1"/>
          <p:nvPr/>
        </p:nvSpPr>
        <p:spPr>
          <a:xfrm>
            <a:off x="968478" y="3866254"/>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49AF4D4D-DC3E-207F-6C83-C4F5A62CA9F3}"/>
              </a:ext>
            </a:extLst>
          </p:cNvPr>
          <p:cNvPicPr>
            <a:picLocks noChangeAspect="1"/>
          </p:cNvPicPr>
          <p:nvPr/>
        </p:nvPicPr>
        <p:blipFill>
          <a:blip r:embed="rId2"/>
          <a:stretch>
            <a:fillRect/>
          </a:stretch>
        </p:blipFill>
        <p:spPr>
          <a:xfrm>
            <a:off x="968478" y="4462393"/>
            <a:ext cx="2833064" cy="1122329"/>
          </a:xfrm>
          <a:prstGeom prst="rect">
            <a:avLst/>
          </a:prstGeom>
        </p:spPr>
      </p:pic>
      <p:pic>
        <p:nvPicPr>
          <p:cNvPr id="10" name="Picture 9">
            <a:extLst>
              <a:ext uri="{FF2B5EF4-FFF2-40B4-BE49-F238E27FC236}">
                <a16:creationId xmlns:a16="http://schemas.microsoft.com/office/drawing/2014/main" id="{E7F5FDCF-50CB-1289-4445-A54F929D2777}"/>
              </a:ext>
            </a:extLst>
          </p:cNvPr>
          <p:cNvPicPr>
            <a:picLocks noChangeAspect="1"/>
          </p:cNvPicPr>
          <p:nvPr/>
        </p:nvPicPr>
        <p:blipFill>
          <a:blip r:embed="rId3"/>
          <a:stretch>
            <a:fillRect/>
          </a:stretch>
        </p:blipFill>
        <p:spPr>
          <a:xfrm>
            <a:off x="786581" y="1009312"/>
            <a:ext cx="6601746" cy="2419688"/>
          </a:xfrm>
          <a:prstGeom prst="rect">
            <a:avLst/>
          </a:prstGeom>
        </p:spPr>
      </p:pic>
      <p:pic>
        <p:nvPicPr>
          <p:cNvPr id="4" name="Picture 3">
            <a:extLst>
              <a:ext uri="{FF2B5EF4-FFF2-40B4-BE49-F238E27FC236}">
                <a16:creationId xmlns:a16="http://schemas.microsoft.com/office/drawing/2014/main" id="{2295B06E-8CD4-680F-9622-54101D2DDF3B}"/>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694042915"/>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7C825D7-A8CD-BBED-F10F-F794DCBC8323}"/>
              </a:ext>
            </a:extLst>
          </p:cNvPr>
          <p:cNvSpPr txBox="1"/>
          <p:nvPr/>
        </p:nvSpPr>
        <p:spPr>
          <a:xfrm>
            <a:off x="519409" y="580060"/>
            <a:ext cx="11307097"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5.4 What is the average value of </a:t>
            </a:r>
            <a:r>
              <a:rPr lang="en-IN" sz="2400" b="1" dirty="0" err="1">
                <a:latin typeface="Times New Roman" panose="02020603050405020304" pitchFamily="18" charset="0"/>
                <a:cs typeface="Times New Roman" panose="02020603050405020304" pitchFamily="18" charset="0"/>
              </a:rPr>
              <a:t>total_amount</a:t>
            </a:r>
            <a:r>
              <a:rPr lang="en-IN" sz="2400" b="1" dirty="0">
                <a:latin typeface="Times New Roman" panose="02020603050405020304" pitchFamily="18" charset="0"/>
                <a:cs typeface="Times New Roman" panose="02020603050405020304" pitchFamily="18" charset="0"/>
              </a:rPr>
              <a:t> after considering leave deductions?</a:t>
            </a:r>
          </a:p>
        </p:txBody>
      </p:sp>
      <p:sp>
        <p:nvSpPr>
          <p:cNvPr id="9" name="TextBox 8">
            <a:extLst>
              <a:ext uri="{FF2B5EF4-FFF2-40B4-BE49-F238E27FC236}">
                <a16:creationId xmlns:a16="http://schemas.microsoft.com/office/drawing/2014/main" id="{B1CEF1B2-DB9E-B072-5DDE-B0823D346E23}"/>
              </a:ext>
            </a:extLst>
          </p:cNvPr>
          <p:cNvSpPr txBox="1"/>
          <p:nvPr/>
        </p:nvSpPr>
        <p:spPr>
          <a:xfrm>
            <a:off x="7667447" y="2493606"/>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a:t>
            </a:r>
            <a:endParaRPr lang="en-IN" sz="24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77555D3B-4DEB-2594-EF51-4B80F2105E73}"/>
              </a:ext>
            </a:extLst>
          </p:cNvPr>
          <p:cNvSpPr txBox="1"/>
          <p:nvPr/>
        </p:nvSpPr>
        <p:spPr>
          <a:xfrm>
            <a:off x="7667447" y="2955271"/>
            <a:ext cx="4226155" cy="1477328"/>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After considering leave deductions, the </a:t>
            </a:r>
            <a:r>
              <a:rPr lang="en-US" sz="1800" b="1" dirty="0">
                <a:latin typeface="Times New Roman" panose="02020603050405020304" pitchFamily="18" charset="0"/>
                <a:cs typeface="Times New Roman" panose="02020603050405020304" pitchFamily="18" charset="0"/>
              </a:rPr>
              <a:t>average adjusted payroll amount is 45,800</a:t>
            </a:r>
            <a:r>
              <a:rPr lang="en-US" sz="1800" dirty="0">
                <a:latin typeface="Times New Roman" panose="02020603050405020304" pitchFamily="18" charset="0"/>
                <a:cs typeface="Times New Roman" panose="02020603050405020304" pitchFamily="18" charset="0"/>
              </a:rPr>
              <a:t>, showing the average salary employees receive after accounting for leave-related deductions.</a:t>
            </a:r>
            <a:endParaRPr lang="en-IN"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A3792BD-588F-614A-8C52-87235E6E186B}"/>
              </a:ext>
            </a:extLst>
          </p:cNvPr>
          <p:cNvPicPr>
            <a:picLocks noChangeAspect="1"/>
          </p:cNvPicPr>
          <p:nvPr/>
        </p:nvPicPr>
        <p:blipFill>
          <a:blip r:embed="rId2"/>
          <a:stretch>
            <a:fillRect/>
          </a:stretch>
        </p:blipFill>
        <p:spPr>
          <a:xfrm>
            <a:off x="869527" y="4514610"/>
            <a:ext cx="2410161" cy="914528"/>
          </a:xfrm>
          <a:prstGeom prst="rect">
            <a:avLst/>
          </a:prstGeom>
        </p:spPr>
      </p:pic>
      <p:pic>
        <p:nvPicPr>
          <p:cNvPr id="8" name="Picture 7">
            <a:extLst>
              <a:ext uri="{FF2B5EF4-FFF2-40B4-BE49-F238E27FC236}">
                <a16:creationId xmlns:a16="http://schemas.microsoft.com/office/drawing/2014/main" id="{7C3C2557-B805-0C3C-22F7-6DE942266537}"/>
              </a:ext>
            </a:extLst>
          </p:cNvPr>
          <p:cNvPicPr>
            <a:picLocks noChangeAspect="1"/>
          </p:cNvPicPr>
          <p:nvPr/>
        </p:nvPicPr>
        <p:blipFill>
          <a:blip r:embed="rId3"/>
          <a:stretch>
            <a:fillRect/>
          </a:stretch>
        </p:blipFill>
        <p:spPr>
          <a:xfrm>
            <a:off x="557578" y="1207700"/>
            <a:ext cx="6393828" cy="2221300"/>
          </a:xfrm>
          <a:prstGeom prst="rect">
            <a:avLst/>
          </a:prstGeom>
        </p:spPr>
      </p:pic>
      <p:sp>
        <p:nvSpPr>
          <p:cNvPr id="10" name="TextBox 9">
            <a:extLst>
              <a:ext uri="{FF2B5EF4-FFF2-40B4-BE49-F238E27FC236}">
                <a16:creationId xmlns:a16="http://schemas.microsoft.com/office/drawing/2014/main" id="{FEA9E8F0-60EA-7E60-C47E-AA9985B9C0E0}"/>
              </a:ext>
            </a:extLst>
          </p:cNvPr>
          <p:cNvSpPr txBox="1"/>
          <p:nvPr/>
        </p:nvSpPr>
        <p:spPr>
          <a:xfrm>
            <a:off x="781036" y="3849352"/>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386EBD8A-515B-E6B7-F814-38211C90069A}"/>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3897757651"/>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743EC35-BCD8-8EBF-7C5C-B096B4C9C42B}"/>
              </a:ext>
            </a:extLst>
          </p:cNvPr>
          <p:cNvSpPr txBox="1"/>
          <p:nvPr/>
        </p:nvSpPr>
        <p:spPr>
          <a:xfrm>
            <a:off x="3687097" y="239403"/>
            <a:ext cx="6096000" cy="523220"/>
          </a:xfrm>
          <a:prstGeom prst="rect">
            <a:avLst/>
          </a:prstGeom>
          <a:noFill/>
        </p:spPr>
        <p:txBody>
          <a:bodyPr wrap="square">
            <a:spAutoFit/>
          </a:bodyPr>
          <a:lstStyle/>
          <a:p>
            <a:r>
              <a:rPr lang="en-IN" sz="2800" b="1" dirty="0">
                <a:solidFill>
                  <a:srgbClr val="FF0000"/>
                </a:solidFill>
                <a:latin typeface="Times New Roman" panose="02020603050405020304" pitchFamily="18" charset="0"/>
                <a:cs typeface="Times New Roman" panose="02020603050405020304" pitchFamily="18" charset="0"/>
              </a:rPr>
              <a:t>SQL Query Results &amp; Insights</a:t>
            </a:r>
            <a:endParaRPr lang="en-IN" sz="2800" dirty="0">
              <a:solidFill>
                <a:srgbClr val="FF00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D418895-A131-017D-D9BC-8CA53768D0BF}"/>
              </a:ext>
            </a:extLst>
          </p:cNvPr>
          <p:cNvSpPr txBox="1"/>
          <p:nvPr/>
        </p:nvSpPr>
        <p:spPr>
          <a:xfrm>
            <a:off x="117987" y="1066612"/>
            <a:ext cx="11956026" cy="3139321"/>
          </a:xfrm>
          <a:prstGeom prst="rect">
            <a:avLst/>
          </a:prstGeom>
          <a:noFill/>
        </p:spPr>
        <p:txBody>
          <a:bodyPr wrap="square">
            <a:spAutoFit/>
          </a:bodyPr>
          <a:lstStyle/>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To wrap things up, our data analysis doesn't just show us where we are; it highlights what we need to fix. </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On the business side, we need to review if our top-heavy compensation and flat bonus structures are actually driving the behaviors we want. </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On the technical side, this analysis exposed some major gaps in our data collection. </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Our leave tracker is currently generating uniform, constrained data, and our payroll records are limited to a single month. </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My primary recommendation is that IT and HR collaborate to clean up these data pipelines so our future reporting can be even more accurate</a:t>
            </a:r>
            <a:r>
              <a:rPr lang="en-US" sz="1800" dirty="0"/>
              <a:t>.</a:t>
            </a:r>
            <a:endParaRPr lang="en-IN" sz="1800" dirty="0"/>
          </a:p>
        </p:txBody>
      </p:sp>
      <p:pic>
        <p:nvPicPr>
          <p:cNvPr id="2" name="Picture 1">
            <a:extLst>
              <a:ext uri="{FF2B5EF4-FFF2-40B4-BE49-F238E27FC236}">
                <a16:creationId xmlns:a16="http://schemas.microsoft.com/office/drawing/2014/main" id="{09DB60A5-1ED9-8E3A-5B6F-6322ED4A7B02}"/>
              </a:ext>
            </a:extLst>
          </p:cNvPr>
          <p:cNvPicPr>
            <a:picLocks noChangeAspect="1"/>
          </p:cNvPicPr>
          <p:nvPr/>
        </p:nvPicPr>
        <p:blipFill>
          <a:blip r:embed="rId2"/>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386109844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24D55A3-AFA2-9384-F767-DED34051AF1C}"/>
              </a:ext>
            </a:extLst>
          </p:cNvPr>
          <p:cNvSpPr txBox="1"/>
          <p:nvPr/>
        </p:nvSpPr>
        <p:spPr>
          <a:xfrm>
            <a:off x="2202426" y="279671"/>
            <a:ext cx="7256206" cy="480131"/>
          </a:xfrm>
          <a:prstGeom prst="rect">
            <a:avLst/>
          </a:prstGeom>
          <a:noFill/>
        </p:spPr>
        <p:txBody>
          <a:bodyPr wrap="square">
            <a:spAutoFit/>
          </a:bodyPr>
          <a:lstStyle/>
          <a:p>
            <a:pPr marL="25400" lvl="0" algn="l" rtl="0">
              <a:lnSpc>
                <a:spcPct val="90000"/>
              </a:lnSpc>
              <a:spcBef>
                <a:spcPts val="1000"/>
              </a:spcBef>
              <a:spcAft>
                <a:spcPts val="0"/>
              </a:spcAft>
              <a:buSzPts val="2400"/>
            </a:pPr>
            <a:r>
              <a:rPr lang="en-US" sz="2800" b="1" dirty="0">
                <a:solidFill>
                  <a:srgbClr val="FF0000"/>
                </a:solidFill>
                <a:latin typeface="Times New Roman" panose="02020603050405020304" pitchFamily="18" charset="0"/>
                <a:cs typeface="Times New Roman" panose="02020603050405020304" pitchFamily="18" charset="0"/>
              </a:rPr>
              <a:t>Final business insights and recommendations</a:t>
            </a:r>
            <a:endParaRPr lang="en-US" sz="2800" dirty="0">
              <a:solidFill>
                <a:srgbClr val="FF00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86552D5-307C-F164-4485-9F2987DE1D1C}"/>
              </a:ext>
            </a:extLst>
          </p:cNvPr>
          <p:cNvSpPr txBox="1"/>
          <p:nvPr/>
        </p:nvSpPr>
        <p:spPr>
          <a:xfrm>
            <a:off x="353962" y="1009784"/>
            <a:ext cx="11838038" cy="3139321"/>
          </a:xfrm>
          <a:prstGeom prst="rect">
            <a:avLst/>
          </a:prstGeom>
          <a:noFill/>
        </p:spPr>
        <p:txBody>
          <a:bodyPr wrap="square">
            <a:spAutoFit/>
          </a:bodyPr>
          <a:lstStyle/>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To conclude, running the numbers is only half the job; the real value is in how we respond to them.</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 From a strategic standpoint, we have an opportunity to modernize our compensation bands—specifically by making our bonus structures more performance-driven to engage our mid-level talent. </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From a technical and analytics standpoint, this project highlighted critical blind spots. </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Our leave tracking is capturing default constraints rather than real human behavior, and our payroll data lacks the historical depth needed for predictive forecasting. </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Fixing these data pipelines should be an immediate priority for our internal technical teams.</a:t>
            </a:r>
            <a:endParaRPr lang="en-IN" sz="18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A0CCAB81-81E9-200E-76D7-280487185C59}"/>
              </a:ext>
            </a:extLst>
          </p:cNvPr>
          <p:cNvSpPr txBox="1"/>
          <p:nvPr/>
        </p:nvSpPr>
        <p:spPr>
          <a:xfrm>
            <a:off x="353961" y="4322388"/>
            <a:ext cx="11257935" cy="861774"/>
          </a:xfrm>
          <a:prstGeom prst="rect">
            <a:avLst/>
          </a:prstGeom>
          <a:noFill/>
        </p:spPr>
        <p:txBody>
          <a:bodyPr wrap="square">
            <a:spAutoFit/>
          </a:bodyPr>
          <a:lstStyle/>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If we look at cost efficiency, we see an interesting split in our HR strategy. We are maintaining large, operational teams in Finance and IT where the average compensation is tightly controlled in the $70,000 range.</a:t>
            </a:r>
          </a:p>
          <a:p>
            <a:endParaRPr lang="en-US" dirty="0"/>
          </a:p>
        </p:txBody>
      </p:sp>
      <p:pic>
        <p:nvPicPr>
          <p:cNvPr id="2" name="Picture 1">
            <a:extLst>
              <a:ext uri="{FF2B5EF4-FFF2-40B4-BE49-F238E27FC236}">
                <a16:creationId xmlns:a16="http://schemas.microsoft.com/office/drawing/2014/main" id="{32BBC210-3B09-4A67-8924-F5A9D54E2736}"/>
              </a:ext>
            </a:extLst>
          </p:cNvPr>
          <p:cNvPicPr>
            <a:picLocks noChangeAspect="1"/>
          </p:cNvPicPr>
          <p:nvPr/>
        </p:nvPicPr>
        <p:blipFill>
          <a:blip r:embed="rId2"/>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37479960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FBBAD60-397C-8FF9-273B-597F55396C6E}"/>
              </a:ext>
            </a:extLst>
          </p:cNvPr>
          <p:cNvSpPr txBox="1"/>
          <p:nvPr/>
        </p:nvSpPr>
        <p:spPr>
          <a:xfrm>
            <a:off x="4572000" y="202671"/>
            <a:ext cx="6096000" cy="523220"/>
          </a:xfrm>
          <a:prstGeom prst="rect">
            <a:avLst/>
          </a:prstGeom>
          <a:noFill/>
        </p:spPr>
        <p:txBody>
          <a:bodyPr wrap="square">
            <a:spAutoFit/>
          </a:bodyPr>
          <a:lstStyle/>
          <a:p>
            <a:r>
              <a:rPr lang="en-US" sz="2800" b="1" dirty="0">
                <a:solidFill>
                  <a:srgbClr val="FF0000"/>
                </a:solidFill>
                <a:latin typeface="Times New Roman" panose="02020603050405020304" pitchFamily="18" charset="0"/>
                <a:cs typeface="Times New Roman" panose="02020603050405020304" pitchFamily="18" charset="0"/>
              </a:rPr>
              <a:t>Conclusion</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8287879-FD18-20F3-2213-08E236524988}"/>
              </a:ext>
            </a:extLst>
          </p:cNvPr>
          <p:cNvSpPr txBox="1"/>
          <p:nvPr/>
        </p:nvSpPr>
        <p:spPr>
          <a:xfrm>
            <a:off x="235974" y="725891"/>
            <a:ext cx="11956026" cy="923330"/>
          </a:xfrm>
          <a:prstGeom prst="rect">
            <a:avLst/>
          </a:prstGeom>
          <a:noFill/>
        </p:spPr>
        <p:txBody>
          <a:bodyPr wrap="square">
            <a:spAutoFit/>
          </a:bodyPr>
          <a:lstStyle/>
          <a:p>
            <a:pPr marL="2857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Operational Investment vs. Premium Talent:</a:t>
            </a:r>
            <a:r>
              <a:rPr lang="en-US" sz="1800" dirty="0">
                <a:latin typeface="Times New Roman" panose="02020603050405020304" pitchFamily="18" charset="0"/>
                <a:cs typeface="Times New Roman" panose="02020603050405020304" pitchFamily="18" charset="0"/>
              </a:rPr>
              <a:t> The organization concentrates its largest headcount and total payroll budgets in core infrastructure teams (Finance and IT), while paying the highest per-capita premiums for specialized roles (Legal and Engineering).</a:t>
            </a:r>
            <a:endParaRPr lang="en-IN" sz="18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C69112DF-150A-4C4E-9E43-4C4648FC180E}"/>
              </a:ext>
            </a:extLst>
          </p:cNvPr>
          <p:cNvSpPr txBox="1"/>
          <p:nvPr/>
        </p:nvSpPr>
        <p:spPr>
          <a:xfrm>
            <a:off x="235973" y="2098998"/>
            <a:ext cx="12064181" cy="923330"/>
          </a:xfrm>
          <a:prstGeom prst="rect">
            <a:avLst/>
          </a:prstGeom>
          <a:noFill/>
        </p:spPr>
        <p:txBody>
          <a:bodyPr wrap="square">
            <a:spAutoFit/>
          </a:bodyPr>
          <a:lstStyle/>
          <a:p>
            <a:pPr marL="2857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Top-Heavy Compensation Structure:</a:t>
            </a:r>
            <a:r>
              <a:rPr lang="en-US" sz="1800" dirty="0">
                <a:latin typeface="Times New Roman" panose="02020603050405020304" pitchFamily="18" charset="0"/>
                <a:cs typeface="Times New Roman" panose="02020603050405020304" pitchFamily="18" charset="0"/>
              </a:rPr>
              <a:t> Financial rewards are strictly hierarchical, with Director-level positions exclusively dominating the top earnings and average bonuses acting as a rigid percentage of base pay rather than reflecting dynamic performance.</a:t>
            </a:r>
            <a:endParaRPr lang="en-IN" sz="18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61685D20-8831-9C12-3511-E7C2DF9A6246}"/>
              </a:ext>
            </a:extLst>
          </p:cNvPr>
          <p:cNvSpPr txBox="1"/>
          <p:nvPr/>
        </p:nvSpPr>
        <p:spPr>
          <a:xfrm>
            <a:off x="235973" y="3429000"/>
            <a:ext cx="11850329" cy="646331"/>
          </a:xfrm>
          <a:prstGeom prst="rect">
            <a:avLst/>
          </a:prstGeom>
          <a:noFill/>
        </p:spPr>
        <p:txBody>
          <a:bodyPr wrap="square">
            <a:spAutoFit/>
          </a:bodyPr>
          <a:lstStyle/>
          <a:p>
            <a:pPr marL="2857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Critical Data Integrity Limitations:</a:t>
            </a:r>
            <a:r>
              <a:rPr lang="en-US" sz="1800" dirty="0">
                <a:latin typeface="Times New Roman" panose="02020603050405020304" pitchFamily="18" charset="0"/>
                <a:cs typeface="Times New Roman" panose="02020603050405020304" pitchFamily="18" charset="0"/>
              </a:rPr>
              <a:t> The HR database exhibits severe synthetic constraints—specifically, an artificial flat-rate of exactly one leave day per employee and a lack of historical payroll data outside of April 2024.</a:t>
            </a:r>
            <a:endParaRPr lang="en-IN" sz="18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36438908-37D2-BC93-D874-E6B991D41CDC}"/>
              </a:ext>
            </a:extLst>
          </p:cNvPr>
          <p:cNvSpPr txBox="1"/>
          <p:nvPr/>
        </p:nvSpPr>
        <p:spPr>
          <a:xfrm>
            <a:off x="235973" y="4724212"/>
            <a:ext cx="11978148" cy="923330"/>
          </a:xfrm>
          <a:prstGeom prst="rect">
            <a:avLst/>
          </a:prstGeom>
          <a:noFill/>
        </p:spPr>
        <p:txBody>
          <a:bodyPr wrap="square">
            <a:spAutoFit/>
          </a:bodyPr>
          <a:lstStyle/>
          <a:p>
            <a:pPr marL="2857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Strategic Path Forward:</a:t>
            </a:r>
            <a:r>
              <a:rPr lang="en-US" sz="1800" dirty="0">
                <a:latin typeface="Times New Roman" panose="02020603050405020304" pitchFamily="18" charset="0"/>
                <a:cs typeface="Times New Roman" panose="02020603050405020304" pitchFamily="18" charset="0"/>
              </a:rPr>
              <a:t> To transition from basic baseline reporting to advanced HR analytics, leadership must first audit the data ingestion pipelines to capture real-world variance, followed by a strategic review of mid-level compensation and performance metrics.</a:t>
            </a:r>
            <a:endParaRPr lang="en-IN" sz="18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853A9763-95DF-5D45-4210-B09DF67651F6}"/>
              </a:ext>
            </a:extLst>
          </p:cNvPr>
          <p:cNvPicPr>
            <a:picLocks noChangeAspect="1"/>
          </p:cNvPicPr>
          <p:nvPr/>
        </p:nvPicPr>
        <p:blipFill>
          <a:blip r:embed="rId2"/>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3025104863"/>
      </p:ext>
    </p:extLst>
  </p:cSld>
  <p:clrMapOvr>
    <a:masterClrMapping/>
  </p:clrMapOvr>
  <p:transition spd="slow">
    <p:randomBar dir="ver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E4FF238-631D-1FD3-8FC0-980FD9C74DCB}"/>
              </a:ext>
            </a:extLst>
          </p:cNvPr>
          <p:cNvSpPr txBox="1"/>
          <p:nvPr/>
        </p:nvSpPr>
        <p:spPr>
          <a:xfrm>
            <a:off x="3972233" y="142379"/>
            <a:ext cx="6096000" cy="523220"/>
          </a:xfrm>
          <a:prstGeom prst="rect">
            <a:avLst/>
          </a:prstGeom>
          <a:noFill/>
        </p:spPr>
        <p:txBody>
          <a:bodyPr wrap="square">
            <a:spAutoFit/>
          </a:bodyPr>
          <a:lstStyle/>
          <a:p>
            <a:r>
              <a:rPr lang="en-US" sz="2800" b="1" dirty="0">
                <a:solidFill>
                  <a:srgbClr val="FF0000"/>
                </a:solidFill>
                <a:latin typeface="Times New Roman" panose="02020603050405020304" pitchFamily="18" charset="0"/>
                <a:cs typeface="Times New Roman" panose="02020603050405020304" pitchFamily="18" charset="0"/>
              </a:rPr>
              <a:t>Experience &amp; Challenges</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B6B0D29-593A-D809-5CD9-EE95DD118355}"/>
              </a:ext>
            </a:extLst>
          </p:cNvPr>
          <p:cNvSpPr txBox="1"/>
          <p:nvPr/>
        </p:nvSpPr>
        <p:spPr>
          <a:xfrm>
            <a:off x="422787" y="843068"/>
            <a:ext cx="11120283" cy="3693319"/>
          </a:xfrm>
          <a:prstGeom prst="rect">
            <a:avLst/>
          </a:prstGeom>
          <a:noFill/>
        </p:spPr>
        <p:txBody>
          <a:bodyPr wrap="square">
            <a:spAutoFit/>
          </a:bodyPr>
          <a:lstStyle/>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Before we conclude, I want to briefly touch on the experience of working with this dataset and the challenges we encountered. </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On the positive side, the relational structure of the database was very clean, which made it straightforward to aggregate our core HR metrics.</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 However, our biggest challenge was the data constraints. </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Because the attendance data assigned exactly one leave to every employee, and the payroll data was isolated to just April 2024, we were limited in our ability to run real-world correlation models or long-term forecasts. </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Recognizing these limitations is what drives our recommendation to expand our historical data ingestion moving forward.</a:t>
            </a:r>
            <a:endParaRPr lang="en-IN" sz="18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5BCA91E7-419C-DD94-3D17-5D5A95F68A0C}"/>
              </a:ext>
            </a:extLst>
          </p:cNvPr>
          <p:cNvPicPr>
            <a:picLocks noChangeAspect="1"/>
          </p:cNvPicPr>
          <p:nvPr/>
        </p:nvPicPr>
        <p:blipFill>
          <a:blip r:embed="rId2"/>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2294355562"/>
      </p:ext>
    </p:extLst>
  </p:cSld>
  <p:clrMapOvr>
    <a:masterClrMapping/>
  </p:clrMapOvr>
  <p:transition spd="slow">
    <p:push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pic>
        <p:nvPicPr>
          <p:cNvPr id="2" name="Picture 1">
            <a:extLst>
              <a:ext uri="{FF2B5EF4-FFF2-40B4-BE49-F238E27FC236}">
                <a16:creationId xmlns:a16="http://schemas.microsoft.com/office/drawing/2014/main" id="{91194C18-6E8B-9517-9D65-349DC45F2F7F}"/>
              </a:ext>
            </a:extLst>
          </p:cNvPr>
          <p:cNvPicPr>
            <a:picLocks noChangeAspect="1"/>
          </p:cNvPicPr>
          <p:nvPr/>
        </p:nvPicPr>
        <p:blipFill>
          <a:blip r:embed="rId4"/>
          <a:stretch>
            <a:fillRect/>
          </a:stretch>
        </p:blipFill>
        <p:spPr>
          <a:xfrm>
            <a:off x="7393858" y="6099043"/>
            <a:ext cx="4798142" cy="75895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533</TotalTime>
  <Words>2147</Words>
  <Application>Microsoft Office PowerPoint</Application>
  <PresentationFormat>Widescreen</PresentationFormat>
  <Paragraphs>205</Paragraphs>
  <Slides>35</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Times New Roman</vt:lpstr>
      <vt:lpstr>Wingdings 3</vt:lpstr>
      <vt:lpstr>Calibri</vt:lpstr>
      <vt:lpstr>Arial</vt:lpstr>
      <vt:lpstr>Libre Baskerville</vt:lpstr>
      <vt:lpstr>Lato Black</vt:lpstr>
      <vt:lpstr>Trebuchet MS</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ratio rao</cp:lastModifiedBy>
  <cp:revision>15</cp:revision>
  <dcterms:created xsi:type="dcterms:W3CDTF">2021-02-16T05:19:01Z</dcterms:created>
  <dcterms:modified xsi:type="dcterms:W3CDTF">2026-03-10T09:57:28Z</dcterms:modified>
</cp:coreProperties>
</file>